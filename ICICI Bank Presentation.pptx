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722E9-F9AC-CC18-BEF4-5935E4456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48EC2-5917-C909-7B97-6DE6DB337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D49A2-53BF-27EA-0681-2AC23FC5A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47F-D330-4974-A28A-D5A541B7554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048A7-76FD-5A51-E063-52DB2321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16C3F-A105-DA62-9A90-588BD0B6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2CE-8EB5-4A2F-96FF-153B6A28F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162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45731-4061-8F05-1B84-CA3E88AF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D7B50-2732-1636-BC0F-6268EF9A9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6C8A3-789A-8815-FC06-74D76A252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47F-D330-4974-A28A-D5A541B7554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DA128-1B70-EA41-B9E0-6FD788ABC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47265-96C5-C881-D12D-B68B46947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2CE-8EB5-4A2F-96FF-153B6A28F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170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8D9AC-6A6E-B19B-2C04-71767C461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3AFC5-7FF0-7D80-484F-75CBE03ED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045F9-69E6-83A8-95A6-B9BA80676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47F-D330-4974-A28A-D5A541B7554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7106A-DE8E-B674-5186-B2F01D80E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38F9F-9831-D8E5-BE95-135759B0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2CE-8EB5-4A2F-96FF-153B6A28F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8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7A6C3-629C-DE35-F83C-50F4188B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B8BD6-36CB-F27B-5624-7AA825378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C8E79-1B1B-9611-1D0B-5C3E19F3B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ED023-97E8-BDE2-7DEB-2E14D835C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47F-D330-4974-A28A-D5A541B7554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4E2E9-3B2B-E894-70BB-FE0144D0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39D54-F4AB-F6F2-E7CC-E117C27FB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2CE-8EB5-4A2F-96FF-153B6A28F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002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FEDB-B742-43E2-7ADA-189AC4207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74844-2648-24D2-578F-B3D71D50B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E1E88-70B8-749F-AB04-C036C94DE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2ED45E-B214-AD87-7CD7-B9F96D2A1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A04EA-700E-2CB0-AF4C-11E8FD2CB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02A4CA-3D7D-F65F-9CE9-E6DF03839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47F-D330-4974-A28A-D5A541B7554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C9FD3A-B143-02FA-D13A-B85E80C29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422F0A-345E-B932-16C2-EEFF96A7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2CE-8EB5-4A2F-96FF-153B6A28F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829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C147-D590-2A7F-6CF8-BF72DC6E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2262FB-E51E-E426-FB02-6953391ED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47F-D330-4974-A28A-D5A541B7554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FB1E6-982B-834E-BB87-98717E3C2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A33A3-4085-7468-1453-375676F3D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2CE-8EB5-4A2F-96FF-153B6A28F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713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B889C-9C96-F349-A742-F82D63FE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47F-D330-4974-A28A-D5A541B7554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682D52-5E85-FB87-9273-C9641897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CB004-AD93-1F59-3682-8B386CEA4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2CE-8EB5-4A2F-96FF-153B6A28F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586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75AEE-8960-EBC2-1659-0A15560D2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DEA52-11E3-A3BE-D868-5D33C5A0B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296E8-D093-65EA-E811-EA03C2B53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085BA-72AF-4B30-7D1A-80E4CB121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47F-D330-4974-A28A-D5A541B7554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4AAEC-4D38-FC7D-B9F7-4B22A9422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32B93-7EBC-4395-746F-DF21A9A2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2CE-8EB5-4A2F-96FF-153B6A28F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155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C3026-304B-A9A2-AC15-8A6A51EE0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ED5A4-3F05-A0B9-8C40-946C00D116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7E6B3-B9F0-1EC1-4534-75CE905C0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26D8C-E8D0-B2C1-9902-309A26410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47F-D330-4974-A28A-D5A541B7554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A1C6F-431B-33FC-1BB2-7258BCCA5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0B406-74AC-28B7-9179-94B246CE7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2CE-8EB5-4A2F-96FF-153B6A28F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57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E2769-2AD7-AE97-792E-DF17D3936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57F2D-9A54-CFAD-7BA9-E2BE103E8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1F481-F9F8-588B-2C8C-07D7E5CA9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47F-D330-4974-A28A-D5A541B7554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BBCB3-8644-28DA-75AA-1FB42583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082CF-9A48-6005-5104-22C4B30D4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2CE-8EB5-4A2F-96FF-153B6A28F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69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F44408-03C8-8DA0-0AD5-E32B69748C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8AF0A-72F3-2201-9811-8F8FBEA3E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96094-2966-839D-89BD-94511402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B47F-D330-4974-A28A-D5A541B7554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5D1AC-E203-6CB7-2DBD-C5968DB9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0D27C-DDED-B202-46B7-F849C39C3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62CE-8EB5-4A2F-96FF-153B6A28F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27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89DA94-07C4-31B1-A37B-C26692B93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F0C9F-7F12-EA55-7AB2-C53594CAE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16147-D6A5-E4D7-C0DB-3E215472EB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CB47F-D330-4974-A28A-D5A541B7554B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354C7-FF14-AD52-A194-579940D3C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C80A7-1B35-824C-1515-A6919D7D8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E62CE-8EB5-4A2F-96FF-153B6A28F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157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ickr.com/photos/al001/3684430915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0E7195-6DEC-4F2D-6809-575A32BBB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693" y="3058610"/>
            <a:ext cx="4610582" cy="975167"/>
          </a:xfrm>
        </p:spPr>
        <p:txBody>
          <a:bodyPr>
            <a:noAutofit/>
          </a:bodyPr>
          <a:lstStyle/>
          <a:p>
            <a:pPr algn="l"/>
            <a:r>
              <a:rPr lang="en-IN" sz="4800" b="1" dirty="0"/>
              <a:t>ICICI Bank Case Study</a:t>
            </a:r>
          </a:p>
          <a:p>
            <a:pPr algn="l"/>
            <a:endParaRPr lang="en-IN" sz="4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B9626E-5B2C-C437-33D0-6292D67A1B44}"/>
              </a:ext>
            </a:extLst>
          </p:cNvPr>
          <p:cNvSpPr/>
          <p:nvPr/>
        </p:nvSpPr>
        <p:spPr>
          <a:xfrm>
            <a:off x="8518966" y="1468247"/>
            <a:ext cx="4089323" cy="5923344"/>
          </a:xfrm>
          <a:prstGeom prst="roundRect">
            <a:avLst>
              <a:gd name="adj" fmla="val 40600"/>
            </a:avLst>
          </a:prstGeom>
          <a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328F01-216C-0E89-863E-CF3071CAF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5697" y="-2152892"/>
            <a:ext cx="10127450" cy="1655762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F6EE43-0981-75EF-E277-020D76B375D6}"/>
              </a:ext>
            </a:extLst>
          </p:cNvPr>
          <p:cNvSpPr txBox="1"/>
          <p:nvPr/>
        </p:nvSpPr>
        <p:spPr>
          <a:xfrm>
            <a:off x="933693" y="4514655"/>
            <a:ext cx="589537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Fundamental Analysis of India's Leading Private Sector Bank - Financial Performance &amp; Strategic Outlook</a:t>
            </a:r>
          </a:p>
          <a:p>
            <a:pPr>
              <a:buNone/>
            </a:pP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342418-6A42-54A5-9656-7703AD116BC7}"/>
              </a:ext>
            </a:extLst>
          </p:cNvPr>
          <p:cNvSpPr txBox="1"/>
          <p:nvPr/>
        </p:nvSpPr>
        <p:spPr>
          <a:xfrm>
            <a:off x="933693" y="5818373"/>
            <a:ext cx="5895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By Anamika Singh</a:t>
            </a:r>
          </a:p>
          <a:p>
            <a:pPr>
              <a:buNone/>
            </a:pP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272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D423D73-FFA5-4B71-0924-981AB79AFEBC}"/>
              </a:ext>
            </a:extLst>
          </p:cNvPr>
          <p:cNvGrpSpPr/>
          <p:nvPr/>
        </p:nvGrpSpPr>
        <p:grpSpPr>
          <a:xfrm>
            <a:off x="370390" y="2621666"/>
            <a:ext cx="11451220" cy="3183038"/>
            <a:chOff x="370390" y="2621666"/>
            <a:chExt cx="11451220" cy="3183038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32E47DD-16E3-12E4-C7C1-D988D5F792CF}"/>
                </a:ext>
              </a:extLst>
            </p:cNvPr>
            <p:cNvSpPr/>
            <p:nvPr/>
          </p:nvSpPr>
          <p:spPr>
            <a:xfrm>
              <a:off x="370390" y="2621666"/>
              <a:ext cx="2511706" cy="318303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</a:rPr>
                <a:t>Assets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India's second-largest private sector bank with total assets of ₹13.77 trillion</a:t>
              </a:r>
            </a:p>
            <a:p>
              <a:pPr algn="ctr"/>
              <a:endParaRPr lang="en-IN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3E335A0-1E7D-AFFD-65A5-706E606C3009}"/>
                </a:ext>
              </a:extLst>
            </p:cNvPr>
            <p:cNvSpPr/>
            <p:nvPr/>
          </p:nvSpPr>
          <p:spPr>
            <a:xfrm>
              <a:off x="3321937" y="2621666"/>
              <a:ext cx="2511706" cy="318303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</a:rPr>
                <a:t>Founded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Established in 1994, headquartered in Mumbai</a:t>
              </a:r>
            </a:p>
            <a:p>
              <a:pPr algn="ctr"/>
              <a:endParaRPr lang="en-IN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36D2D07-C052-2D48-F537-657C43D56C1C}"/>
                </a:ext>
              </a:extLst>
            </p:cNvPr>
            <p:cNvSpPr/>
            <p:nvPr/>
          </p:nvSpPr>
          <p:spPr>
            <a:xfrm>
              <a:off x="6358358" y="2621666"/>
              <a:ext cx="2511706" cy="318303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</a:rPr>
                <a:t>Business Areas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Retail banking, corporate banking, investment banking, and insurance</a:t>
              </a:r>
            </a:p>
            <a:p>
              <a:pPr algn="ctr"/>
              <a:endParaRPr lang="en-IN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95ADF4A-D461-00A4-B8F4-ED1B7A3AE86B}"/>
                </a:ext>
              </a:extLst>
            </p:cNvPr>
            <p:cNvSpPr/>
            <p:nvPr/>
          </p:nvSpPr>
          <p:spPr>
            <a:xfrm>
              <a:off x="9309904" y="2621666"/>
              <a:ext cx="2511706" cy="318303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b="1" dirty="0">
                  <a:solidFill>
                    <a:schemeClr val="accent1">
                      <a:lumMod val="75000"/>
                    </a:schemeClr>
                  </a:solidFill>
                </a:rPr>
                <a:t>Market Position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Second largest private bank with 15.8% credit card market share and 95% transactions online</a:t>
              </a:r>
            </a:p>
            <a:p>
              <a:pPr algn="ctr"/>
              <a:endParaRPr lang="en-IN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19DC4AD-02D3-91E2-A923-68B165D58F4B}"/>
              </a:ext>
            </a:extLst>
          </p:cNvPr>
          <p:cNvSpPr txBox="1"/>
          <p:nvPr/>
        </p:nvSpPr>
        <p:spPr>
          <a:xfrm>
            <a:off x="370390" y="1476300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/>
              <a:t>ICICI Bank Overview</a:t>
            </a:r>
          </a:p>
        </p:txBody>
      </p:sp>
      <p:pic>
        <p:nvPicPr>
          <p:cNvPr id="11" name="Graphic 10" descr="Bank">
            <a:extLst>
              <a:ext uri="{FF2B5EF4-FFF2-40B4-BE49-F238E27FC236}">
                <a16:creationId xmlns:a16="http://schemas.microsoft.com/office/drawing/2014/main" id="{34CD94C7-9910-4010-ED41-8BA76B142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066" y="2655425"/>
            <a:ext cx="680977" cy="680977"/>
          </a:xfrm>
          <a:prstGeom prst="rect">
            <a:avLst/>
          </a:prstGeom>
        </p:spPr>
      </p:pic>
      <p:pic>
        <p:nvPicPr>
          <p:cNvPr id="13" name="Graphic 12" descr="Daily calendar">
            <a:extLst>
              <a:ext uri="{FF2B5EF4-FFF2-40B4-BE49-F238E27FC236}">
                <a16:creationId xmlns:a16="http://schemas.microsoft.com/office/drawing/2014/main" id="{6892C6AF-2C2A-C97F-0543-8456A836F7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6811" y="2655425"/>
            <a:ext cx="680978" cy="680978"/>
          </a:xfrm>
          <a:prstGeom prst="rect">
            <a:avLst/>
          </a:prstGeom>
        </p:spPr>
      </p:pic>
      <p:pic>
        <p:nvPicPr>
          <p:cNvPr id="15" name="Graphic 14" descr="Network diagram">
            <a:extLst>
              <a:ext uri="{FF2B5EF4-FFF2-40B4-BE49-F238E27FC236}">
                <a16:creationId xmlns:a16="http://schemas.microsoft.com/office/drawing/2014/main" id="{E4645C59-6762-2EE4-DF22-054148BB27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6391154" y="2621666"/>
            <a:ext cx="762000" cy="762000"/>
          </a:xfrm>
          <a:prstGeom prst="rect">
            <a:avLst/>
          </a:prstGeom>
        </p:spPr>
      </p:pic>
      <p:pic>
        <p:nvPicPr>
          <p:cNvPr id="17" name="Graphic 16" descr="Upward trend">
            <a:extLst>
              <a:ext uri="{FF2B5EF4-FFF2-40B4-BE49-F238E27FC236}">
                <a16:creationId xmlns:a16="http://schemas.microsoft.com/office/drawing/2014/main" id="{46966861-E7A1-4C9A-884A-B4F0481982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65843" y="2655425"/>
            <a:ext cx="680982" cy="68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79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E106-0708-2BA3-D8CA-1E95D51DD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860"/>
            <a:ext cx="10515600" cy="1325563"/>
          </a:xfrm>
        </p:spPr>
        <p:txBody>
          <a:bodyPr/>
          <a:lstStyle/>
          <a:p>
            <a:r>
              <a:rPr lang="en-IN" b="1" dirty="0"/>
              <a:t>Financial Performance Highlights (2020-2024)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CCC9CD8-FA7A-6C4E-FCD8-5153480072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91" y="2148423"/>
            <a:ext cx="4963218" cy="3705742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A93CC3E-576D-334C-DE10-8E1D9FEDAB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103" y="2215107"/>
            <a:ext cx="3181794" cy="3572374"/>
          </a:xfrm>
        </p:spPr>
      </p:pic>
    </p:spTree>
    <p:extLst>
      <p:ext uri="{BB962C8B-B14F-4D97-AF65-F5344CB8AC3E}">
        <p14:creationId xmlns:p14="http://schemas.microsoft.com/office/powerpoint/2010/main" val="1670956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9E7E32-DE9D-48EB-BDBA-C95C1139D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9239"/>
            <a:ext cx="12192000" cy="44332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20B2A2-B32E-C60D-EDAB-DC8A45DC2CD9}"/>
              </a:ext>
            </a:extLst>
          </p:cNvPr>
          <p:cNvSpPr txBox="1"/>
          <p:nvPr/>
        </p:nvSpPr>
        <p:spPr>
          <a:xfrm>
            <a:off x="639501" y="700798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Profit and Loss For ICICI Bank</a:t>
            </a:r>
          </a:p>
        </p:txBody>
      </p:sp>
    </p:spTree>
    <p:extLst>
      <p:ext uri="{BB962C8B-B14F-4D97-AF65-F5344CB8AC3E}">
        <p14:creationId xmlns:p14="http://schemas.microsoft.com/office/powerpoint/2010/main" val="2969838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E08904-901E-F0F0-8136-3630B20EE7D6}"/>
              </a:ext>
            </a:extLst>
          </p:cNvPr>
          <p:cNvSpPr txBox="1"/>
          <p:nvPr/>
        </p:nvSpPr>
        <p:spPr>
          <a:xfrm>
            <a:off x="609116" y="3672217"/>
            <a:ext cx="46660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Threats</a:t>
            </a:r>
          </a:p>
          <a:p>
            <a:pPr algn="r">
              <a:buNone/>
            </a:pPr>
            <a:r>
              <a:rPr lang="en-US" dirty="0"/>
              <a:t>Economic slowdown impacting loan growth. Rising interest rate environment pressuring margins. Increasing fintech competition and regulatory changes.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6DC9E-034F-6086-310E-00FEA6918D28}"/>
              </a:ext>
            </a:extLst>
          </p:cNvPr>
          <p:cNvSpPr txBox="1"/>
          <p:nvPr/>
        </p:nvSpPr>
        <p:spPr>
          <a:xfrm>
            <a:off x="991081" y="1708455"/>
            <a:ext cx="42840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Strengths</a:t>
            </a:r>
          </a:p>
          <a:p>
            <a:pPr algn="r">
              <a:buNone/>
            </a:pPr>
            <a:r>
              <a:rPr lang="en-US" dirty="0"/>
              <a:t>Strong digital infrastructure with 95% online transactions. Robust capital adequacy at 16.3%. Diversified revenue streams across retail, corporate and investment banking.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DD62E4-5302-2417-ADE8-3B707362DAF3}"/>
              </a:ext>
            </a:extLst>
          </p:cNvPr>
          <p:cNvSpPr txBox="1"/>
          <p:nvPr/>
        </p:nvSpPr>
        <p:spPr>
          <a:xfrm>
            <a:off x="6727305" y="1711200"/>
            <a:ext cx="4284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Weaknesses</a:t>
            </a:r>
          </a:p>
          <a:p>
            <a:pPr>
              <a:buNone/>
            </a:pPr>
            <a:r>
              <a:rPr lang="en-US" dirty="0"/>
              <a:t>High competition in retail segment. Exposure to unsecured loans at 12.8% of portfolio. NIM pressure due to rising deposit costs.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4AEBF-2006-74D1-2393-5EB664029117}"/>
              </a:ext>
            </a:extLst>
          </p:cNvPr>
          <p:cNvSpPr txBox="1"/>
          <p:nvPr/>
        </p:nvSpPr>
        <p:spPr>
          <a:xfrm>
            <a:off x="6727305" y="3672217"/>
            <a:ext cx="45001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Opportunities</a:t>
            </a:r>
          </a:p>
          <a:p>
            <a:pPr>
              <a:buNone/>
            </a:pPr>
            <a:r>
              <a:rPr lang="en-US" dirty="0"/>
              <a:t>Digital banking expansion in rural areas. Growing SME and business banking segment (34% YoY growth). Credit card market share expansion opportunities.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4A8509-B576-230C-992F-029FCEFDCCA8}"/>
              </a:ext>
            </a:extLst>
          </p:cNvPr>
          <p:cNvSpPr/>
          <p:nvPr/>
        </p:nvSpPr>
        <p:spPr>
          <a:xfrm>
            <a:off x="5370653" y="2824223"/>
            <a:ext cx="532436" cy="6047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dirty="0"/>
              <a:t>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C705A4F-2235-9DD4-10E1-10CB195B01FF}"/>
              </a:ext>
            </a:extLst>
          </p:cNvPr>
          <p:cNvSpPr/>
          <p:nvPr/>
        </p:nvSpPr>
        <p:spPr>
          <a:xfrm>
            <a:off x="5998582" y="2824223"/>
            <a:ext cx="532436" cy="6047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W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3F3FC87-27D4-B8CA-B25F-1CBB7294606F}"/>
              </a:ext>
            </a:extLst>
          </p:cNvPr>
          <p:cNvSpPr/>
          <p:nvPr/>
        </p:nvSpPr>
        <p:spPr>
          <a:xfrm>
            <a:off x="5370653" y="3566932"/>
            <a:ext cx="532436" cy="6047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85F0430-6DEE-F31A-5188-1BFCCD872AB7}"/>
              </a:ext>
            </a:extLst>
          </p:cNvPr>
          <p:cNvSpPr/>
          <p:nvPr/>
        </p:nvSpPr>
        <p:spPr>
          <a:xfrm>
            <a:off x="6022695" y="3566931"/>
            <a:ext cx="532436" cy="6047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5F0B7A-2698-09C6-2755-732F4332EDF1}"/>
              </a:ext>
            </a:extLst>
          </p:cNvPr>
          <p:cNvSpPr txBox="1"/>
          <p:nvPr/>
        </p:nvSpPr>
        <p:spPr>
          <a:xfrm>
            <a:off x="991081" y="901881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ICICI Bank SWOT Analysis</a:t>
            </a:r>
          </a:p>
        </p:txBody>
      </p:sp>
    </p:spTree>
    <p:extLst>
      <p:ext uri="{BB962C8B-B14F-4D97-AF65-F5344CB8AC3E}">
        <p14:creationId xmlns:p14="http://schemas.microsoft.com/office/powerpoint/2010/main" val="3691338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03BE-7C0D-01B4-7AF2-2416F6D0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Peer Comparison Analysis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276A89D-E2D3-8487-1C8B-D8A893D1C3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23" y="2157949"/>
            <a:ext cx="4867954" cy="368668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DD83E-A7F4-3A55-0074-57F1C37486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Competitive Positioning</a:t>
            </a:r>
          </a:p>
          <a:p>
            <a:pPr marL="0" indent="0">
              <a:buNone/>
            </a:pPr>
            <a:r>
              <a:rPr lang="en-US" sz="2000" dirty="0"/>
              <a:t>ICICI Bank leads in profitability metrics with highest ROE at 18% and strong NIM at 4.5%. Asset quality remains superior with GNPA at 1.7%, better than SBI's 2.1%. Market cap of ₹9.83 lakh crore positions it as second largest private bank.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417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4E2CE-D8DE-EA5A-F7C5-FDB97777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Stock Performance &amp; Outlook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DD6AE-7F93-FB28-9A9D-032980B7EB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Investment Thesis</a:t>
            </a:r>
          </a:p>
          <a:p>
            <a:pPr marL="0" indent="0">
              <a:buNone/>
            </a:pPr>
            <a:r>
              <a:rPr lang="en-US" sz="2000" dirty="0"/>
              <a:t>ICICI Bank demonstrates strong fundamentals with consistent profit growth of 39.8% CAGR over 5 years. Current P/E of 20.8x offers reasonable valuation. Digital initiatives and business banking growth provide future catalysts.</a:t>
            </a:r>
          </a:p>
          <a:p>
            <a:pPr marL="0" indent="0" algn="ctr">
              <a:buNone/>
            </a:pPr>
            <a:r>
              <a:rPr lang="en-US" sz="5400" dirty="0"/>
              <a:t>3.96</a:t>
            </a:r>
          </a:p>
          <a:p>
            <a:pPr marL="0" indent="0" algn="ctr">
              <a:buNone/>
            </a:pPr>
            <a:r>
              <a:rPr lang="en-IN" sz="1800" dirty="0"/>
              <a:t>1-Year Return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8F1EF9-6DC6-6299-47F8-F5C4D22306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786" y="1825626"/>
            <a:ext cx="4858428" cy="4004724"/>
          </a:xfrm>
        </p:spPr>
      </p:pic>
    </p:spTree>
    <p:extLst>
      <p:ext uri="{BB962C8B-B14F-4D97-AF65-F5344CB8AC3E}">
        <p14:creationId xmlns:p14="http://schemas.microsoft.com/office/powerpoint/2010/main" val="2827452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536F14C-919A-0C8B-6EE0-3DA992A8374D}"/>
              </a:ext>
            </a:extLst>
          </p:cNvPr>
          <p:cNvGrpSpPr/>
          <p:nvPr/>
        </p:nvGrpSpPr>
        <p:grpSpPr>
          <a:xfrm>
            <a:off x="803717" y="2763769"/>
            <a:ext cx="10584566" cy="2215991"/>
            <a:chOff x="709914" y="2451252"/>
            <a:chExt cx="10584566" cy="221599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AEB4EDA-BBD1-D240-B799-F52EE61ECE2C}"/>
                </a:ext>
              </a:extLst>
            </p:cNvPr>
            <p:cNvSpPr txBox="1"/>
            <p:nvPr/>
          </p:nvSpPr>
          <p:spPr>
            <a:xfrm>
              <a:off x="9575640" y="2451252"/>
              <a:ext cx="1718840" cy="22159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IN" sz="2400" b="1" dirty="0">
                  <a:solidFill>
                    <a:schemeClr val="accent5">
                      <a:lumMod val="50000"/>
                    </a:schemeClr>
                  </a:solidFill>
                </a:rPr>
                <a:t>Partnership Strategy</a:t>
              </a:r>
            </a:p>
            <a:p>
              <a:pPr algn="ctr">
                <a:buNone/>
              </a:pPr>
              <a:r>
                <a:rPr lang="en-IN" dirty="0"/>
                <a:t>Collaborations with fintech companies and digital payment platforms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0834459-5C9B-8484-4A21-831BBBD3B3BD}"/>
                </a:ext>
              </a:extLst>
            </p:cNvPr>
            <p:cNvSpPr txBox="1"/>
            <p:nvPr/>
          </p:nvSpPr>
          <p:spPr>
            <a:xfrm>
              <a:off x="709914" y="2451252"/>
              <a:ext cx="1640711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IN" sz="2400" b="1" dirty="0">
                  <a:solidFill>
                    <a:schemeClr val="accent5">
                      <a:lumMod val="50000"/>
                    </a:schemeClr>
                  </a:solidFill>
                </a:rPr>
                <a:t>Digital Banking Expansion</a:t>
              </a:r>
            </a:p>
            <a:p>
              <a:pPr algn="ctr">
                <a:buNone/>
              </a:pPr>
              <a:r>
                <a:rPr lang="en-IN" dirty="0"/>
                <a:t>95% transactions now digital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C06C2A3-35E3-D31B-6217-C0E50C91545A}"/>
                </a:ext>
              </a:extLst>
            </p:cNvPr>
            <p:cNvSpPr txBox="1"/>
            <p:nvPr/>
          </p:nvSpPr>
          <p:spPr>
            <a:xfrm>
              <a:off x="2886437" y="2451252"/>
              <a:ext cx="1640711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IN" sz="2400" b="1" dirty="0">
                  <a:solidFill>
                    <a:schemeClr val="accent5">
                      <a:lumMod val="50000"/>
                    </a:schemeClr>
                  </a:solidFill>
                </a:rPr>
                <a:t>Business Banking Growth</a:t>
              </a:r>
            </a:p>
            <a:p>
              <a:pPr algn="ctr">
                <a:buNone/>
              </a:pPr>
              <a:r>
                <a:rPr lang="en-IN" dirty="0"/>
                <a:t>34% YoY growth in SME segment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F72FFA0-60DC-540F-2B41-3D873EDD4867}"/>
                </a:ext>
              </a:extLst>
            </p:cNvPr>
            <p:cNvSpPr txBox="1"/>
            <p:nvPr/>
          </p:nvSpPr>
          <p:spPr>
            <a:xfrm>
              <a:off x="5062960" y="2451252"/>
              <a:ext cx="1640711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IN" sz="2400" b="1" dirty="0">
                  <a:solidFill>
                    <a:schemeClr val="accent5">
                      <a:lumMod val="50000"/>
                    </a:schemeClr>
                  </a:solidFill>
                </a:rPr>
                <a:t>Branch Network Expansion</a:t>
              </a:r>
            </a:p>
            <a:p>
              <a:pPr algn="ctr">
                <a:buNone/>
              </a:pPr>
              <a:r>
                <a:rPr lang="en-IN" dirty="0"/>
                <a:t>6,500+ branches across India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AB55833-47E7-9783-1B8C-C21E3540BA69}"/>
                </a:ext>
              </a:extLst>
            </p:cNvPr>
            <p:cNvSpPr txBox="1"/>
            <p:nvPr/>
          </p:nvSpPr>
          <p:spPr>
            <a:xfrm>
              <a:off x="7239483" y="2451252"/>
              <a:ext cx="1800345" cy="16619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IN" sz="2400" b="1" dirty="0">
                  <a:solidFill>
                    <a:schemeClr val="accent5">
                      <a:lumMod val="50000"/>
                    </a:schemeClr>
                  </a:solidFill>
                </a:rPr>
                <a:t>Technology Investments</a:t>
              </a:r>
            </a:p>
            <a:p>
              <a:pPr algn="ctr">
                <a:buNone/>
              </a:pPr>
              <a:r>
                <a:rPr lang="en-IN" dirty="0"/>
                <a:t>₹10,000+ crore in digital infrastructure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A72C9BF-AE30-6FA2-AD86-33BCFF76B636}"/>
              </a:ext>
            </a:extLst>
          </p:cNvPr>
          <p:cNvSpPr txBox="1"/>
          <p:nvPr/>
        </p:nvSpPr>
        <p:spPr>
          <a:xfrm>
            <a:off x="803717" y="1059611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Growth Strategy &amp; Digital Initiatives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767776-CA70-9FD4-BBB7-4D7753B8FE00}"/>
              </a:ext>
            </a:extLst>
          </p:cNvPr>
          <p:cNvSpPr txBox="1"/>
          <p:nvPr/>
        </p:nvSpPr>
        <p:spPr>
          <a:xfrm>
            <a:off x="803717" y="1988634"/>
            <a:ext cx="11164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</a:rPr>
              <a:t>        1                             2                               3                             4                                  5   </a:t>
            </a:r>
          </a:p>
        </p:txBody>
      </p:sp>
    </p:spTree>
    <p:extLst>
      <p:ext uri="{BB962C8B-B14F-4D97-AF65-F5344CB8AC3E}">
        <p14:creationId xmlns:p14="http://schemas.microsoft.com/office/powerpoint/2010/main" val="216608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9BE7EE-2334-C061-0C01-07D2C5813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014" y="217793"/>
            <a:ext cx="9470763" cy="427105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88BD9FD-3C2B-921C-8178-41A49E7DD29D}"/>
              </a:ext>
            </a:extLst>
          </p:cNvPr>
          <p:cNvGrpSpPr/>
          <p:nvPr/>
        </p:nvGrpSpPr>
        <p:grpSpPr>
          <a:xfrm>
            <a:off x="1421014" y="4982170"/>
            <a:ext cx="8741558" cy="1497091"/>
            <a:chOff x="370390" y="2621666"/>
            <a:chExt cx="11451220" cy="3183038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10727AD-4687-1BC9-8E38-4275FBF9949F}"/>
                </a:ext>
              </a:extLst>
            </p:cNvPr>
            <p:cNvSpPr/>
            <p:nvPr/>
          </p:nvSpPr>
          <p:spPr>
            <a:xfrm>
              <a:off x="370390" y="2621666"/>
              <a:ext cx="2511706" cy="318303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b="1" dirty="0">
                  <a:solidFill>
                    <a:schemeClr val="accent5">
                      <a:lumMod val="50000"/>
                    </a:schemeClr>
                  </a:solidFill>
                </a:rPr>
                <a:t>CAR</a:t>
              </a:r>
            </a:p>
            <a:p>
              <a:r>
                <a:rPr lang="en-US" sz="1400" dirty="0">
                  <a:solidFill>
                    <a:schemeClr val="accent5">
                      <a:lumMod val="50000"/>
                    </a:schemeClr>
                  </a:solidFill>
                </a:rPr>
                <a:t>Capital Adequacy Ratio at 16.3% well above RBI requirement of 11.5%</a:t>
              </a:r>
            </a:p>
            <a:p>
              <a:pPr algn="ctr"/>
              <a:endParaRPr lang="en-IN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98D90D5-14E3-FC8D-55F8-FCE10EEE076A}"/>
                </a:ext>
              </a:extLst>
            </p:cNvPr>
            <p:cNvSpPr/>
            <p:nvPr/>
          </p:nvSpPr>
          <p:spPr>
            <a:xfrm>
              <a:off x="3321937" y="2621666"/>
              <a:ext cx="2511706" cy="318303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b="1" dirty="0">
                  <a:solidFill>
                    <a:schemeClr val="accent5">
                      <a:lumMod val="50000"/>
                    </a:schemeClr>
                  </a:solidFill>
                </a:rPr>
                <a:t>ROA</a:t>
              </a:r>
            </a:p>
            <a:p>
              <a:r>
                <a:rPr lang="en-US" sz="1400" dirty="0">
                  <a:solidFill>
                    <a:schemeClr val="accent5">
                      <a:lumMod val="50000"/>
                    </a:schemeClr>
                  </a:solidFill>
                </a:rPr>
                <a:t>Return on Assets improved to 2.4% from 1.7% in FY21</a:t>
              </a:r>
            </a:p>
            <a:p>
              <a:pPr algn="ctr"/>
              <a:endParaRPr lang="en-IN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CF65DE-1F66-11D2-BFE8-E922EBC1F9C0}"/>
                </a:ext>
              </a:extLst>
            </p:cNvPr>
            <p:cNvSpPr/>
            <p:nvPr/>
          </p:nvSpPr>
          <p:spPr>
            <a:xfrm>
              <a:off x="6358358" y="2621666"/>
              <a:ext cx="2511706" cy="318303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b="1" dirty="0">
                  <a:solidFill>
                    <a:schemeClr val="accent5">
                      <a:lumMod val="50000"/>
                    </a:schemeClr>
                  </a:solidFill>
                </a:rPr>
                <a:t>Cost-to-Income</a:t>
              </a:r>
            </a:p>
            <a:p>
              <a:r>
                <a:rPr lang="en-IN" sz="1400" dirty="0">
                  <a:solidFill>
                    <a:schemeClr val="accent5">
                      <a:lumMod val="50000"/>
                    </a:schemeClr>
                  </a:solidFill>
                </a:rPr>
                <a:t>Ratio optimized to 42.3%</a:t>
              </a:r>
            </a:p>
            <a:p>
              <a:pPr algn="ctr"/>
              <a:endParaRPr lang="en-IN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51BA21-DCFF-B6A2-DC07-42655D63D986}"/>
                </a:ext>
              </a:extLst>
            </p:cNvPr>
            <p:cNvSpPr/>
            <p:nvPr/>
          </p:nvSpPr>
          <p:spPr>
            <a:xfrm>
              <a:off x="9309904" y="2621666"/>
              <a:ext cx="2511706" cy="318303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b="1" dirty="0">
                  <a:solidFill>
                    <a:schemeClr val="accent5">
                      <a:lumMod val="50000"/>
                    </a:schemeClr>
                  </a:solidFill>
                </a:rPr>
                <a:t>Credit-Deposit</a:t>
              </a:r>
            </a:p>
            <a:p>
              <a:r>
                <a:rPr lang="en-US" sz="1400" dirty="0">
                  <a:solidFill>
                    <a:schemeClr val="accent5">
                      <a:lumMod val="50000"/>
                    </a:schemeClr>
                  </a:solidFill>
                </a:rPr>
                <a:t>Ratio maintained at 88.7% indicating healthy lending growth</a:t>
              </a:r>
            </a:p>
            <a:p>
              <a:pPr algn="ctr"/>
              <a:endParaRPr lang="en-IN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E314891-3CE7-B68E-EA18-7C406A3FDC1D}"/>
              </a:ext>
            </a:extLst>
          </p:cNvPr>
          <p:cNvSpPr txBox="1"/>
          <p:nvPr/>
        </p:nvSpPr>
        <p:spPr>
          <a:xfrm>
            <a:off x="1339991" y="4504678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Key Financial Ratios &amp; Capital Adequacy</a:t>
            </a:r>
          </a:p>
        </p:txBody>
      </p:sp>
    </p:spTree>
    <p:extLst>
      <p:ext uri="{BB962C8B-B14F-4D97-AF65-F5344CB8AC3E}">
        <p14:creationId xmlns:p14="http://schemas.microsoft.com/office/powerpoint/2010/main" val="926277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399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Financial Performance Highlights (2020-2024)</vt:lpstr>
      <vt:lpstr>PowerPoint Presentation</vt:lpstr>
      <vt:lpstr>PowerPoint Presentation</vt:lpstr>
      <vt:lpstr>Peer Comparison Analysis</vt:lpstr>
      <vt:lpstr>Stock Performance &amp; Outlook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SANJEEV PARMAR</dc:creator>
  <cp:lastModifiedBy>SANJEEV PARMAR</cp:lastModifiedBy>
  <cp:revision>1</cp:revision>
  <dcterms:created xsi:type="dcterms:W3CDTF">2025-12-11T14:00:34Z</dcterms:created>
  <dcterms:modified xsi:type="dcterms:W3CDTF">2025-12-11T14:50:57Z</dcterms:modified>
</cp:coreProperties>
</file>