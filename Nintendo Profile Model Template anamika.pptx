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notesMasterIdLst>
    <p:notesMasterId r:id="rId4"/>
  </p:notesMasterIdLst>
  <p:sldIdLst>
    <p:sldId id="1029" r:id="rId2"/>
    <p:sldId id="1262" r:id="rId3"/>
  </p:sldIdLst>
  <p:sldSz cx="9144000" cy="6858000" type="letter"/>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ED8B07-03EF-70FA-5E05-AF70688D4DE8}" name="Stephanie Rodgers" initials="SR" userId="db26bc80bab7ff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731F"/>
    <a:srgbClr val="03B1F0"/>
    <a:srgbClr val="002060"/>
    <a:srgbClr val="2A3647"/>
    <a:srgbClr val="CD1575"/>
    <a:srgbClr val="808080"/>
    <a:srgbClr val="303F52"/>
    <a:srgbClr val="A6A6A6"/>
    <a:srgbClr val="E6E6E6"/>
    <a:srgbClr val="1DB7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52" autoAdjust="0"/>
    <p:restoredTop sz="95291" autoAdjust="0"/>
  </p:normalViewPr>
  <p:slideViewPr>
    <p:cSldViewPr snapToGrid="0">
      <p:cViewPr varScale="1">
        <p:scale>
          <a:sx n="83" d="100"/>
          <a:sy n="83" d="100"/>
        </p:scale>
        <p:origin x="1378" y="230"/>
      </p:cViewPr>
      <p:guideLst/>
    </p:cSldViewPr>
  </p:slideViewPr>
  <p:notesTextViewPr>
    <p:cViewPr>
      <p:scale>
        <a:sx n="300" d="100"/>
        <a:sy n="3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Revenue</c:v>
                </c:pt>
              </c:strCache>
            </c:strRef>
          </c:tx>
          <c:spPr>
            <a:ln>
              <a:solidFill>
                <a:schemeClr val="tx1"/>
              </a:solidFill>
            </a:ln>
          </c:spPr>
          <c:dPt>
            <c:idx val="0"/>
            <c:bubble3D val="0"/>
            <c:spPr>
              <a:solidFill>
                <a:srgbClr val="FF0000"/>
              </a:solidFill>
              <a:ln>
                <a:solidFill>
                  <a:schemeClr val="tx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4-8E9E-46BC-A041-90437CA5400C}"/>
              </c:ext>
            </c:extLst>
          </c:dPt>
          <c:dPt>
            <c:idx val="1"/>
            <c:bubble3D val="0"/>
            <c:spPr>
              <a:solidFill>
                <a:srgbClr val="002060"/>
              </a:solidFill>
              <a:ln>
                <a:solidFill>
                  <a:schemeClr val="tx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8E9E-46BC-A041-90437CA5400C}"/>
              </c:ext>
            </c:extLst>
          </c:dPt>
          <c:dPt>
            <c:idx val="2"/>
            <c:bubble3D val="0"/>
            <c:spPr>
              <a:solidFill>
                <a:srgbClr val="03B1F0"/>
              </a:solidFill>
              <a:ln>
                <a:solidFill>
                  <a:schemeClr val="tx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8E9E-46BC-A041-90437CA5400C}"/>
              </c:ext>
            </c:extLst>
          </c:dPt>
          <c:dPt>
            <c:idx val="3"/>
            <c:bubble3D val="0"/>
            <c:spPr>
              <a:solidFill>
                <a:srgbClr val="3B731F"/>
              </a:solidFill>
              <a:ln>
                <a:solidFill>
                  <a:schemeClr val="tx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8E9E-46BC-A041-90437CA5400C}"/>
              </c:ext>
            </c:extLst>
          </c:dPt>
          <c:dLbls>
            <c:dLbl>
              <c:idx val="0"/>
              <c:numFmt formatCode="0%" sourceLinked="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4-8E9E-46BC-A041-90437CA5400C}"/>
                </c:ext>
              </c:extLst>
            </c:dLbl>
            <c:dLbl>
              <c:idx val="1"/>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800DD941-964D-4741-9CF9-57E15BAD9C32}" type="CATEGORYNAME">
                      <a:rPr lang="en-US">
                        <a:solidFill>
                          <a:schemeClr val="tx1"/>
                        </a:solidFill>
                      </a:rPr>
                      <a:pPr>
                        <a:defRPr>
                          <a:solidFill>
                            <a:schemeClr val="accent1"/>
                          </a:solidFill>
                        </a:defRPr>
                      </a:pPr>
                      <a:t>[CATEGORY NAME]</a:t>
                    </a:fld>
                    <a:endParaRPr lang="en-IN"/>
                  </a:p>
                </c:rich>
              </c:tx>
              <c:numFmt formatCode="0%" sourceLinked="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IN"/>
                </a:p>
              </c:txPr>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8E9E-46BC-A041-90437CA5400C}"/>
                </c:ext>
              </c:extLst>
            </c:dLbl>
            <c:dLbl>
              <c:idx val="2"/>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A7ECDEEB-90B9-48DC-BE17-87BAE5CD68A6}" type="CATEGORYNAME">
                      <a:rPr lang="en-US">
                        <a:solidFill>
                          <a:schemeClr val="tx1"/>
                        </a:solidFill>
                      </a:rPr>
                      <a:pPr>
                        <a:defRPr>
                          <a:solidFill>
                            <a:schemeClr val="accent1"/>
                          </a:solidFill>
                        </a:defRPr>
                      </a:pPr>
                      <a:t>[CATEGORY NAME]</a:t>
                    </a:fld>
                    <a:endParaRPr lang="en-IN"/>
                  </a:p>
                </c:rich>
              </c:tx>
              <c:numFmt formatCode="0%" sourceLinked="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IN"/>
                </a:p>
              </c:txPr>
              <c:dLblPos val="bestFit"/>
              <c:showLegendKey val="0"/>
              <c:showVal val="0"/>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E9E-46BC-A041-90437CA5400C}"/>
                </c:ext>
              </c:extLst>
            </c:dLbl>
            <c:dLbl>
              <c:idx val="3"/>
              <c:numFmt formatCode="0%" sourceLinked="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tx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E9E-46BC-A041-90437CA5400C}"/>
                </c:ext>
              </c:extLst>
            </c:dLbl>
            <c:numFmt formatCode="0%" sourceLinked="0"/>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Japan </c:v>
                </c:pt>
                <c:pt idx="1">
                  <c:v>The Americas</c:v>
                </c:pt>
                <c:pt idx="2">
                  <c:v>Europe</c:v>
                </c:pt>
                <c:pt idx="3">
                  <c:v>Other </c:v>
                </c:pt>
              </c:strCache>
            </c:strRef>
          </c:cat>
          <c:val>
            <c:numRef>
              <c:f>Sheet1!$B$2:$B$5</c:f>
              <c:numCache>
                <c:formatCode>#,##0</c:formatCode>
                <c:ptCount val="4"/>
                <c:pt idx="0">
                  <c:v>301187</c:v>
                </c:pt>
                <c:pt idx="1">
                  <c:v>565023</c:v>
                </c:pt>
                <c:pt idx="2">
                  <c:v>326613</c:v>
                </c:pt>
                <c:pt idx="3">
                  <c:v>115694</c:v>
                </c:pt>
              </c:numCache>
            </c:numRef>
          </c:val>
          <c:extLst>
            <c:ext xmlns:c16="http://schemas.microsoft.com/office/drawing/2014/chart" uri="{C3380CC4-5D6E-409C-BE32-E72D297353CC}">
              <c16:uniqueId val="{00000000-8E9E-46BC-A041-90437CA5400C}"/>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899088719383369E-2"/>
          <c:y val="0.18204107651897966"/>
          <c:w val="0.86182685614864685"/>
          <c:h val="0.53735101949539132"/>
        </c:manualLayout>
      </c:layout>
      <c:barChart>
        <c:barDir val="col"/>
        <c:grouping val="clustered"/>
        <c:varyColors val="0"/>
        <c:ser>
          <c:idx val="0"/>
          <c:order val="0"/>
          <c:tx>
            <c:strRef>
              <c:f>Sheet1!$B$1</c:f>
              <c:strCache>
                <c:ptCount val="1"/>
                <c:pt idx="0">
                  <c:v>Revenue</c:v>
                </c:pt>
              </c:strCache>
            </c:strRef>
          </c:tx>
          <c:spPr>
            <a:solidFill>
              <a:srgbClr val="002060"/>
            </a:solidFill>
            <a:ln>
              <a:noFill/>
            </a:ln>
            <a:effectLst/>
          </c:spPr>
          <c:invertIfNegative val="0"/>
          <c:dLbls>
            <c:numFmt formatCode="[$$-409]#,##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Sheet1!$B$2:$B$6</c:f>
              <c:numCache>
                <c:formatCode>General</c:formatCode>
                <c:ptCount val="5"/>
                <c:pt idx="0">
                  <c:v>4</c:v>
                </c:pt>
                <c:pt idx="1">
                  <c:v>8.6</c:v>
                </c:pt>
                <c:pt idx="2">
                  <c:v>9.6999999999999993</c:v>
                </c:pt>
                <c:pt idx="3">
                  <c:v>4.5</c:v>
                </c:pt>
                <c:pt idx="4">
                  <c:v>14.2</c:v>
                </c:pt>
              </c:numCache>
            </c:numRef>
          </c:val>
          <c:extLst>
            <c:ext xmlns:c16="http://schemas.microsoft.com/office/drawing/2014/chart" uri="{C3380CC4-5D6E-409C-BE32-E72D297353CC}">
              <c16:uniqueId val="{00000000-919D-47C0-8769-2210C94131DE}"/>
            </c:ext>
          </c:extLst>
        </c:ser>
        <c:dLbls>
          <c:showLegendKey val="0"/>
          <c:showVal val="1"/>
          <c:showCatName val="0"/>
          <c:showSerName val="0"/>
          <c:showPercent val="0"/>
          <c:showBubbleSize val="0"/>
        </c:dLbls>
        <c:gapWidth val="219"/>
        <c:overlap val="-27"/>
        <c:axId val="1500265999"/>
        <c:axId val="1500266479"/>
      </c:barChart>
      <c:lineChart>
        <c:grouping val="standard"/>
        <c:varyColors val="0"/>
        <c:ser>
          <c:idx val="1"/>
          <c:order val="1"/>
          <c:tx>
            <c:strRef>
              <c:f>Sheet1!$C$1</c:f>
              <c:strCache>
                <c:ptCount val="1"/>
                <c:pt idx="0">
                  <c:v>EBITDA</c:v>
                </c:pt>
              </c:strCache>
            </c:strRef>
          </c:tx>
          <c:spPr>
            <a:ln w="28575" cap="rnd">
              <a:solidFill>
                <a:srgbClr val="00B0F0"/>
              </a:solidFill>
              <a:round/>
            </a:ln>
            <a:effectLst/>
          </c:spPr>
          <c:marker>
            <c:symbol val="none"/>
          </c:marker>
          <c:dLbls>
            <c:dLbl>
              <c:idx val="0"/>
              <c:layout>
                <c:manualLayout>
                  <c:x val="-6.3544755037441045E-2"/>
                  <c:y val="-2.5200912788967276E-2"/>
                </c:manualLayout>
              </c:layout>
              <c:numFmt formatCode="[$$-409]#,##0.0"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bg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15:layout>
                    <c:manualLayout>
                      <c:w val="9.3170048431400018E-2"/>
                      <c:h val="0.1235474749479115"/>
                    </c:manualLayout>
                  </c15:layout>
                </c:ext>
                <c:ext xmlns:c16="http://schemas.microsoft.com/office/drawing/2014/chart" uri="{C3380CC4-5D6E-409C-BE32-E72D297353CC}">
                  <c16:uniqueId val="{00000004-919D-47C0-8769-2210C94131DE}"/>
                </c:ext>
              </c:extLst>
            </c:dLbl>
            <c:numFmt formatCode="[$$-409]#,##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2017</c:v>
                </c:pt>
                <c:pt idx="1">
                  <c:v>2018</c:v>
                </c:pt>
                <c:pt idx="2">
                  <c:v>2019</c:v>
                </c:pt>
                <c:pt idx="3">
                  <c:v>2020</c:v>
                </c:pt>
                <c:pt idx="4">
                  <c:v>2021</c:v>
                </c:pt>
              </c:numCache>
            </c:numRef>
          </c:cat>
          <c:val>
            <c:numRef>
              <c:f>Sheet1!$C$2:$C$6</c:f>
              <c:numCache>
                <c:formatCode>General</c:formatCode>
                <c:ptCount val="5"/>
                <c:pt idx="0">
                  <c:v>0.3</c:v>
                </c:pt>
                <c:pt idx="1">
                  <c:v>1.5</c:v>
                </c:pt>
                <c:pt idx="2">
                  <c:v>2.1</c:v>
                </c:pt>
                <c:pt idx="3">
                  <c:v>2.9</c:v>
                </c:pt>
                <c:pt idx="4">
                  <c:v>5.3</c:v>
                </c:pt>
              </c:numCache>
            </c:numRef>
          </c:val>
          <c:smooth val="0"/>
          <c:extLst>
            <c:ext xmlns:c16="http://schemas.microsoft.com/office/drawing/2014/chart" uri="{C3380CC4-5D6E-409C-BE32-E72D297353CC}">
              <c16:uniqueId val="{00000001-919D-47C0-8769-2210C94131DE}"/>
            </c:ext>
          </c:extLst>
        </c:ser>
        <c:dLbls>
          <c:showLegendKey val="0"/>
          <c:showVal val="1"/>
          <c:showCatName val="0"/>
          <c:showSerName val="0"/>
          <c:showPercent val="0"/>
          <c:showBubbleSize val="0"/>
        </c:dLbls>
        <c:marker val="1"/>
        <c:smooth val="0"/>
        <c:axId val="1500265999"/>
        <c:axId val="1500266479"/>
      </c:lineChart>
      <c:catAx>
        <c:axId val="15002659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00266479"/>
        <c:crosses val="autoZero"/>
        <c:auto val="1"/>
        <c:lblAlgn val="ctr"/>
        <c:lblOffset val="100"/>
        <c:noMultiLvlLbl val="0"/>
      </c:catAx>
      <c:valAx>
        <c:axId val="1500266479"/>
        <c:scaling>
          <c:orientation val="minMax"/>
        </c:scaling>
        <c:delete val="0"/>
        <c:axPos val="l"/>
        <c:numFmt formatCode="[$$-409]#,##0.0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002659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3343" cy="467071"/>
          </a:xfrm>
          <a:prstGeom prst="rect">
            <a:avLst/>
          </a:prstGeom>
        </p:spPr>
        <p:txBody>
          <a:bodyPr vert="horz" lIns="93293" tIns="46647" rIns="93293" bIns="46647" rtlCol="0"/>
          <a:lstStyle>
            <a:lvl1pPr algn="l">
              <a:defRPr sz="1200"/>
            </a:lvl1pPr>
          </a:lstStyle>
          <a:p>
            <a:endParaRPr lang="en-US" dirty="0"/>
          </a:p>
        </p:txBody>
      </p:sp>
      <p:sp>
        <p:nvSpPr>
          <p:cNvPr id="3" name="Date Placeholder 2"/>
          <p:cNvSpPr>
            <a:spLocks noGrp="1"/>
          </p:cNvSpPr>
          <p:nvPr>
            <p:ph type="dt" idx="1"/>
          </p:nvPr>
        </p:nvSpPr>
        <p:spPr>
          <a:xfrm>
            <a:off x="3978133" y="0"/>
            <a:ext cx="3043343" cy="467071"/>
          </a:xfrm>
          <a:prstGeom prst="rect">
            <a:avLst/>
          </a:prstGeom>
        </p:spPr>
        <p:txBody>
          <a:bodyPr vert="horz" lIns="93293" tIns="46647" rIns="93293" bIns="46647" rtlCol="0"/>
          <a:lstStyle>
            <a:lvl1pPr algn="r">
              <a:defRPr sz="1200"/>
            </a:lvl1pPr>
          </a:lstStyle>
          <a:p>
            <a:fld id="{59F099CF-6E90-4C14-AACD-FEA21303BCE2}" type="datetimeFigureOut">
              <a:rPr lang="en-US" smtClean="0"/>
              <a:t>12/16/2025</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293" tIns="46647" rIns="93293" bIns="46647" rtlCol="0" anchor="ctr"/>
          <a:lstStyle/>
          <a:p>
            <a:endParaRPr lang="en-US" dirty="0"/>
          </a:p>
        </p:txBody>
      </p:sp>
      <p:sp>
        <p:nvSpPr>
          <p:cNvPr id="5" name="Notes Placeholder 4"/>
          <p:cNvSpPr>
            <a:spLocks noGrp="1"/>
          </p:cNvSpPr>
          <p:nvPr>
            <p:ph type="body" sz="quarter" idx="3"/>
          </p:nvPr>
        </p:nvSpPr>
        <p:spPr>
          <a:xfrm>
            <a:off x="702311" y="4480006"/>
            <a:ext cx="5618480" cy="3665459"/>
          </a:xfrm>
          <a:prstGeom prst="rect">
            <a:avLst/>
          </a:prstGeom>
        </p:spPr>
        <p:txBody>
          <a:bodyPr vert="horz" lIns="93293" tIns="46647" rIns="93293" bIns="466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1"/>
            <a:ext cx="3043343" cy="467070"/>
          </a:xfrm>
          <a:prstGeom prst="rect">
            <a:avLst/>
          </a:prstGeom>
        </p:spPr>
        <p:txBody>
          <a:bodyPr vert="horz" lIns="93293" tIns="46647" rIns="93293" bIns="466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3" y="8842031"/>
            <a:ext cx="3043343" cy="467070"/>
          </a:xfrm>
          <a:prstGeom prst="rect">
            <a:avLst/>
          </a:prstGeom>
        </p:spPr>
        <p:txBody>
          <a:bodyPr vert="horz" lIns="93293" tIns="46647" rIns="93293" bIns="46647" rtlCol="0" anchor="b"/>
          <a:lstStyle>
            <a:lvl1pPr algn="r">
              <a:defRPr sz="1200"/>
            </a:lvl1pPr>
          </a:lstStyle>
          <a:p>
            <a:fld id="{E262F593-AD9B-4352-A2D4-D77C9B23497F}" type="slidenum">
              <a:rPr lang="en-US" smtClean="0"/>
              <a:t>‹#›</a:t>
            </a:fld>
            <a:endParaRPr lang="en-US" dirty="0"/>
          </a:p>
        </p:txBody>
      </p:sp>
    </p:spTree>
    <p:extLst>
      <p:ext uri="{BB962C8B-B14F-4D97-AF65-F5344CB8AC3E}">
        <p14:creationId xmlns:p14="http://schemas.microsoft.com/office/powerpoint/2010/main" val="944771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The strategic acquisition of Octane Fitness, which emphasizes core competencies in specialty retail and international distribution channels, is complementary to Nautilus’ strengths in the direct-to-consumer and mass merchant retail sales, however, an acquisition of Pivotal 5 would further enhance </a:t>
            </a:r>
          </a:p>
        </p:txBody>
      </p:sp>
      <p:sp>
        <p:nvSpPr>
          <p:cNvPr id="4" name="Slide Number Placeholder 3"/>
          <p:cNvSpPr>
            <a:spLocks noGrp="1"/>
          </p:cNvSpPr>
          <p:nvPr>
            <p:ph type="sldNum" sz="quarter" idx="10"/>
          </p:nvPr>
        </p:nvSpPr>
        <p:spPr/>
        <p:txBody>
          <a:bodyPr/>
          <a:lstStyle/>
          <a:p>
            <a:fld id="{E262F593-AD9B-4352-A2D4-D77C9B23497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58020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USE THIS">
    <p:spTree>
      <p:nvGrpSpPr>
        <p:cNvPr id="1" name=""/>
        <p:cNvGrpSpPr/>
        <p:nvPr/>
      </p:nvGrpSpPr>
      <p:grpSpPr>
        <a:xfrm>
          <a:off x="0" y="0"/>
          <a:ext cx="0" cy="0"/>
          <a:chOff x="0" y="0"/>
          <a:chExt cx="0" cy="0"/>
        </a:xfrm>
      </p:grpSpPr>
      <p:sp>
        <p:nvSpPr>
          <p:cNvPr id="2" name="Title 1"/>
          <p:cNvSpPr>
            <a:spLocks noGrp="1"/>
          </p:cNvSpPr>
          <p:nvPr>
            <p:ph type="title"/>
          </p:nvPr>
        </p:nvSpPr>
        <p:spPr>
          <a:xfrm>
            <a:off x="304801" y="152401"/>
            <a:ext cx="8534400" cy="533400"/>
          </a:xfrm>
        </p:spPr>
        <p:txBody>
          <a:bodyPr/>
          <a:lstStyle>
            <a:lvl1pPr marL="0" algn="l" defTabSz="914400" rtl="0" eaLnBrk="1" fontAlgn="base" latinLnBrk="0" hangingPunct="1">
              <a:spcBef>
                <a:spcPct val="0"/>
              </a:spcBef>
              <a:spcAft>
                <a:spcPct val="0"/>
              </a:spcAft>
              <a:defRPr lang="en-US" sz="1500" b="1" kern="1200" cap="all" baseline="0" dirty="0">
                <a:solidFill>
                  <a:schemeClr val="tx1"/>
                </a:solidFill>
                <a:latin typeface="+mn-lt"/>
                <a:ea typeface="Roboto Lt" pitchFamily="2" charset="0"/>
                <a:cs typeface="Helvetica" panose="020B0604020202020204" pitchFamily="34" charset="0"/>
              </a:defRPr>
            </a:lvl1pPr>
          </a:lstStyle>
          <a:p>
            <a:r>
              <a:rPr lang="en-US" dirty="0"/>
              <a:t>Click to edit Master title style</a:t>
            </a:r>
          </a:p>
        </p:txBody>
      </p:sp>
      <p:sp>
        <p:nvSpPr>
          <p:cNvPr id="6" name="Footer Placeholder 9"/>
          <p:cNvSpPr>
            <a:spLocks noGrp="1"/>
          </p:cNvSpPr>
          <p:nvPr>
            <p:ph type="ftr" sz="quarter" idx="18"/>
          </p:nvPr>
        </p:nvSpPr>
        <p:spPr>
          <a:xfrm>
            <a:off x="457200" y="6384244"/>
            <a:ext cx="8229600" cy="182562"/>
          </a:xfrm>
        </p:spPr>
        <p:txBody>
          <a:bodyPr/>
          <a:lstStyle>
            <a:lvl1pPr>
              <a:defRPr/>
            </a:lvl1pPr>
          </a:lstStyle>
          <a:p>
            <a:endParaRPr lang="en-US" dirty="0">
              <a:solidFill>
                <a:prstClr val="black">
                  <a:lumMod val="65000"/>
                  <a:lumOff val="35000"/>
                </a:prstClr>
              </a:solidFill>
            </a:endParaRPr>
          </a:p>
        </p:txBody>
      </p:sp>
      <p:sp>
        <p:nvSpPr>
          <p:cNvPr id="11" name="Text Placeholder 14"/>
          <p:cNvSpPr>
            <a:spLocks noGrp="1"/>
          </p:cNvSpPr>
          <p:nvPr>
            <p:ph type="body" sz="quarter" idx="19"/>
          </p:nvPr>
        </p:nvSpPr>
        <p:spPr>
          <a:xfrm>
            <a:off x="457200" y="914400"/>
            <a:ext cx="8229600" cy="1125583"/>
          </a:xfrm>
          <a:prstGeom prst="rect">
            <a:avLst/>
          </a:prstGeom>
        </p:spPr>
        <p:txBody>
          <a:bodyPr/>
          <a:lstStyle>
            <a:lvl1pPr marL="0" indent="0" algn="just" defTabSz="914400" rtl="0" eaLnBrk="1" fontAlgn="base" latinLnBrk="0" hangingPunct="1">
              <a:lnSpc>
                <a:spcPct val="114000"/>
              </a:lnSpc>
              <a:spcBef>
                <a:spcPts val="300"/>
              </a:spcBef>
              <a:spcAft>
                <a:spcPts val="300"/>
              </a:spcAft>
              <a:buClrTx/>
              <a:buSzPct val="100000"/>
              <a:buFont typeface="Wingdings" pitchFamily="2" charset="2"/>
              <a:buNone/>
              <a:defRPr lang="en-US" sz="1000" b="1" kern="1200" dirty="0" smtClean="0">
                <a:solidFill>
                  <a:schemeClr val="tx1"/>
                </a:solidFill>
                <a:latin typeface="+mn-lt"/>
                <a:ea typeface="Roboto Lt" pitchFamily="2" charset="0"/>
                <a:cs typeface="Helvetica" panose="020B0604020202020204" pitchFamily="34" charset="0"/>
              </a:defRPr>
            </a:lvl1pPr>
            <a:lvl2pPr marL="410779" indent="-204794" algn="just">
              <a:spcAft>
                <a:spcPts val="300"/>
              </a:spcAft>
              <a:buClrTx/>
              <a:buSzPct val="100000"/>
              <a:buFont typeface="Courier New" panose="02070309020205020404" pitchFamily="49" charset="0"/>
              <a:buChar char="o"/>
              <a:defRPr lang="en-US" sz="950" kern="1200" dirty="0" smtClean="0">
                <a:solidFill>
                  <a:schemeClr val="tx1"/>
                </a:solidFill>
                <a:latin typeface="+mn-lt"/>
                <a:ea typeface="+mn-ea"/>
                <a:cs typeface="+mn-cs"/>
              </a:defRPr>
            </a:lvl2pPr>
            <a:lvl3pPr marL="616763" indent="-171456" algn="just">
              <a:spcAft>
                <a:spcPts val="300"/>
              </a:spcAft>
              <a:buFont typeface="Courier New" panose="02070309020205020404" pitchFamily="49" charset="0"/>
              <a:buChar char="o"/>
              <a:defRPr lang="en-US" sz="900" kern="1200" dirty="0" smtClean="0">
                <a:solidFill>
                  <a:schemeClr val="tx1"/>
                </a:solidFill>
                <a:latin typeface="+mn-lt"/>
                <a:ea typeface="+mn-ea"/>
                <a:cs typeface="+mn-cs"/>
              </a:defRPr>
            </a:lvl3pPr>
          </a:lstStyle>
          <a:p>
            <a:pPr marL="204794" lvl="0" indent="-204794" algn="l" rtl="0" eaLnBrk="1" fontAlgn="base" hangingPunct="1">
              <a:lnSpc>
                <a:spcPct val="114000"/>
              </a:lnSpc>
              <a:spcBef>
                <a:spcPts val="450"/>
              </a:spcBef>
              <a:spcAft>
                <a:spcPct val="0"/>
              </a:spcAft>
              <a:buClrTx/>
              <a:buSzPct val="76000"/>
              <a:buFont typeface="Wingdings" pitchFamily="2" charset="2"/>
              <a:buChar char="§"/>
            </a:pPr>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marL="616763" lvl="2" indent="-171456" algn="l" rtl="0" eaLnBrk="1" fontAlgn="base" hangingPunct="1">
              <a:spcBef>
                <a:spcPct val="0"/>
              </a:spcBef>
              <a:spcAft>
                <a:spcPts val="225"/>
              </a:spcAft>
              <a:buClrTx/>
              <a:buSzPct val="76000"/>
              <a:buFont typeface="Wingdings" panose="05000000000000000000" pitchFamily="2" charset="2"/>
              <a:buChar char="Ø"/>
            </a:pPr>
            <a:r>
              <a:rPr lang="en-US" dirty="0"/>
              <a:t>Third level</a:t>
            </a:r>
          </a:p>
        </p:txBody>
      </p:sp>
      <p:sp>
        <p:nvSpPr>
          <p:cNvPr id="8" name="Slide Number Placeholder 22"/>
          <p:cNvSpPr txBox="1">
            <a:spLocks/>
          </p:cNvSpPr>
          <p:nvPr userDrawn="1"/>
        </p:nvSpPr>
        <p:spPr>
          <a:xfrm>
            <a:off x="4297073" y="6556375"/>
            <a:ext cx="549853" cy="225425"/>
          </a:xfrm>
          <a:prstGeom prst="rect">
            <a:avLst/>
          </a:prstGeom>
        </p:spPr>
        <p:txBody>
          <a:bodyPr vert="horz" anchor="ctr"/>
          <a:lstStyle>
            <a:defPPr>
              <a:defRPr lang="en-US"/>
            </a:defPPr>
            <a:lvl1pPr marL="0" algn="ctr" defTabSz="914400" rtl="0" eaLnBrk="1" fontAlgn="auto" latinLnBrk="0" hangingPunct="1">
              <a:spcBef>
                <a:spcPts val="0"/>
              </a:spcBef>
              <a:spcAft>
                <a:spcPts val="0"/>
              </a:spcAft>
              <a:defRPr kumimoji="0" sz="1051"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90180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3"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5"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6" name="Rectangle 5"/>
          <p:cNvSpPr>
            <a:spLocks noChangeArrowheads="1"/>
          </p:cNvSpPr>
          <p:nvPr userDrawn="1"/>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8"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14" name="Picture 4">
            <a:extLst>
              <a:ext uri="{FF2B5EF4-FFF2-40B4-BE49-F238E27FC236}">
                <a16:creationId xmlns:a16="http://schemas.microsoft.com/office/drawing/2014/main" id="{3A55EE3D-15BB-427A-83D4-3C555B1D7AF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02415" y="260918"/>
            <a:ext cx="1196954" cy="323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980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33400"/>
          </a:xfrm>
        </p:spPr>
        <p:txBody>
          <a:bodyPr/>
          <a:lstStyle/>
          <a:p>
            <a:r>
              <a:rPr lang="en-US" dirty="0"/>
              <a:t>Click to edit Master title style</a:t>
            </a:r>
          </a:p>
        </p:txBody>
      </p:sp>
      <p:sp>
        <p:nvSpPr>
          <p:cNvPr id="6" name="Slide Number Placeholder 22"/>
          <p:cNvSpPr>
            <a:spLocks noGrp="1"/>
          </p:cNvSpPr>
          <p:nvPr>
            <p:ph type="sldNum" sz="quarter" idx="4"/>
          </p:nvPr>
        </p:nvSpPr>
        <p:spPr>
          <a:xfrm>
            <a:off x="4036219" y="6562725"/>
            <a:ext cx="1071562" cy="225425"/>
          </a:xfrm>
          <a:prstGeom prst="rect">
            <a:avLst/>
          </a:prstGeom>
        </p:spPr>
        <p:txBody>
          <a:bodyPr vert="horz" anchor="ctr"/>
          <a:lstStyle>
            <a:lvl1pPr algn="ctr" eaLnBrk="1" fontAlgn="auto" latinLnBrk="0" hangingPunct="1">
              <a:spcBef>
                <a:spcPts val="0"/>
              </a:spcBef>
              <a:spcAft>
                <a:spcPts val="0"/>
              </a:spcAft>
              <a:defRPr kumimoji="0" sz="1050" smtClean="0">
                <a:solidFill>
                  <a:schemeClr val="tx1"/>
                </a:solidFill>
                <a:latin typeface="+mn-lt"/>
              </a:defRPr>
            </a:lvl1pPr>
          </a:lstStyle>
          <a:p>
            <a:pPr>
              <a:defRPr/>
            </a:pPr>
            <a:fld id="{0E597324-71BB-4312-8794-C30754F659B3}" type="slidenum">
              <a:rPr lang="en-US">
                <a:solidFill>
                  <a:srgbClr val="000000"/>
                </a:solidFill>
              </a:rPr>
              <a:pPr>
                <a:defRPr/>
              </a:pPr>
              <a:t>‹#›</a:t>
            </a:fld>
            <a:endParaRPr lang="en-US" dirty="0">
              <a:solidFill>
                <a:srgbClr val="000000"/>
              </a:solidFill>
            </a:endParaRPr>
          </a:p>
        </p:txBody>
      </p:sp>
      <p:sp>
        <p:nvSpPr>
          <p:cNvPr id="15" name="Text Placeholder 14"/>
          <p:cNvSpPr>
            <a:spLocks noGrp="1"/>
          </p:cNvSpPr>
          <p:nvPr>
            <p:ph type="body" sz="quarter" idx="13"/>
          </p:nvPr>
        </p:nvSpPr>
        <p:spPr>
          <a:xfrm>
            <a:off x="304800" y="911352"/>
            <a:ext cx="8531352" cy="5337048"/>
          </a:xfrm>
          <a:prstGeom prst="rect">
            <a:avLst/>
          </a:prstGeom>
        </p:spPr>
        <p:txBody>
          <a:bodyPr/>
          <a:lstStyle>
            <a:lvl1pPr algn="just">
              <a:buClrTx/>
              <a:defRPr lang="en-US" sz="1050" kern="1200" dirty="0" smtClean="0">
                <a:solidFill>
                  <a:schemeClr val="tx1"/>
                </a:solidFill>
                <a:latin typeface="+mn-lt"/>
                <a:ea typeface="+mn-ea"/>
                <a:cs typeface="+mn-cs"/>
              </a:defRPr>
            </a:lvl1pPr>
            <a:lvl2pPr algn="just">
              <a:buClrTx/>
              <a:buFont typeface="Wingdings" pitchFamily="2" charset="2"/>
              <a:buChar char="q"/>
              <a:defRPr lang="en-US" sz="950" kern="1200" dirty="0" smtClean="0">
                <a:solidFill>
                  <a:schemeClr val="tx1"/>
                </a:solidFill>
                <a:latin typeface="+mn-lt"/>
                <a:ea typeface="+mn-ea"/>
                <a:cs typeface="+mn-cs"/>
              </a:defRPr>
            </a:lvl2pPr>
            <a:lvl3pPr algn="just">
              <a:buClrTx/>
              <a:buFont typeface="Wingdings" pitchFamily="2" charset="2"/>
              <a:buChar char="q"/>
              <a:defRPr lang="en-US" sz="950" kern="1200" dirty="0" smtClean="0">
                <a:solidFill>
                  <a:schemeClr val="tx1"/>
                </a:solidFill>
                <a:latin typeface="+mn-lt"/>
                <a:ea typeface="+mn-ea"/>
                <a:cs typeface="+mn-cs"/>
              </a:defRPr>
            </a:lvl3pPr>
          </a:lstStyle>
          <a:p>
            <a:pPr marL="273050" lvl="0" indent="-273050" algn="l" rtl="0" eaLnBrk="1" fontAlgn="base" hangingPunct="1">
              <a:lnSpc>
                <a:spcPct val="114000"/>
              </a:lnSpc>
              <a:spcBef>
                <a:spcPts val="600"/>
              </a:spcBef>
              <a:spcAft>
                <a:spcPct val="0"/>
              </a:spcAft>
              <a:buClrTx/>
              <a:buSzPct val="76000"/>
              <a:buFont typeface="Wingdings" pitchFamily="2" charset="2"/>
              <a:buChar char="§"/>
            </a:pPr>
            <a:r>
              <a:rPr lang="en-US" dirty="0"/>
              <a:t>Click to edit Master text styles</a:t>
            </a:r>
          </a:p>
          <a:p>
            <a:pPr marL="547688" lvl="1" indent="-273050" algn="just" rtl="0" eaLnBrk="1" fontAlgn="base" hangingPunct="1">
              <a:lnSpc>
                <a:spcPct val="114000"/>
              </a:lnSpc>
              <a:spcBef>
                <a:spcPts val="300"/>
              </a:spcBef>
              <a:spcAft>
                <a:spcPts val="300"/>
              </a:spcAft>
              <a:buClrTx/>
              <a:buSzPct val="76000"/>
              <a:buFont typeface="Wingdings" pitchFamily="2" charset="2"/>
              <a:buChar char="q"/>
              <a:defRPr/>
            </a:pPr>
            <a:r>
              <a:rPr lang="en-US" dirty="0"/>
              <a:t>Second level</a:t>
            </a:r>
          </a:p>
          <a:p>
            <a:pPr marL="822325" lvl="2" indent="-228600" algn="l" rtl="0" eaLnBrk="1" fontAlgn="base" hangingPunct="1">
              <a:spcBef>
                <a:spcPct val="0"/>
              </a:spcBef>
              <a:spcAft>
                <a:spcPts val="300"/>
              </a:spcAft>
              <a:buClrTx/>
              <a:buSzPct val="76000"/>
              <a:buFont typeface="Wingdings 3" pitchFamily="18" charset="2"/>
              <a:buChar char=""/>
            </a:pPr>
            <a:r>
              <a:rPr lang="en-US" dirty="0"/>
              <a:t>Third level</a:t>
            </a:r>
          </a:p>
        </p:txBody>
      </p:sp>
      <p:sp>
        <p:nvSpPr>
          <p:cNvPr id="7" name="TextBox 6"/>
          <p:cNvSpPr txBox="1"/>
          <p:nvPr userDrawn="1"/>
        </p:nvSpPr>
        <p:spPr>
          <a:xfrm>
            <a:off x="-1066800" y="304800"/>
            <a:ext cx="9144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2653024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8" name="Text Placeholder 12"/>
          <p:cNvSpPr>
            <a:spLocks noGrp="1"/>
          </p:cNvSpPr>
          <p:nvPr>
            <p:ph type="body" idx="1"/>
          </p:nvPr>
        </p:nvSpPr>
        <p:spPr bwMode="auto">
          <a:xfrm>
            <a:off x="304801" y="838200"/>
            <a:ext cx="85344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lvl="2"/>
            <a:r>
              <a:rPr lang="en-US" dirty="0"/>
              <a:t>Third level</a:t>
            </a:r>
          </a:p>
        </p:txBody>
      </p:sp>
      <p:sp>
        <p:nvSpPr>
          <p:cNvPr id="10"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16" name="Rectangle 15"/>
          <p:cNvSpPr>
            <a:spLocks noChangeArrowheads="1"/>
          </p:cNvSpPr>
          <p:nvPr/>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13"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6" name="Picture 5" descr="Text, logo&#10;&#10;Description automatically generated">
            <a:extLst>
              <a:ext uri="{FF2B5EF4-FFF2-40B4-BE49-F238E27FC236}">
                <a16:creationId xmlns:a16="http://schemas.microsoft.com/office/drawing/2014/main" id="{146F02E6-416A-BC5D-D33C-7AB17E376F6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074634" y="-904401"/>
            <a:ext cx="3180397" cy="3180397"/>
          </a:xfrm>
          <a:prstGeom prst="rect">
            <a:avLst/>
          </a:prstGeom>
        </p:spPr>
      </p:pic>
    </p:spTree>
    <p:extLst>
      <p:ext uri="{BB962C8B-B14F-4D97-AF65-F5344CB8AC3E}">
        <p14:creationId xmlns:p14="http://schemas.microsoft.com/office/powerpoint/2010/main" val="686480307"/>
      </p:ext>
    </p:extLst>
  </p:cSld>
  <p:clrMap bg1="lt1" tx1="dk1" bg2="lt2" tx2="dk2" accent1="accent1" accent2="accent2" accent3="accent3" accent4="accent4" accent5="accent5" accent6="accent6" hlink="hlink" folHlink="folHlink"/>
  <p:sldLayoutIdLst>
    <p:sldLayoutId id="2147483813" r:id="rId1"/>
    <p:sldLayoutId id="2147484331" r:id="rId2"/>
    <p:sldLayoutId id="2147484332" r:id="rId3"/>
  </p:sldLayoutIdLst>
  <p:txStyles>
    <p:titleStyle>
      <a:lvl1pPr marL="0" algn="l" defTabSz="914400" rtl="0" eaLnBrk="1" fontAlgn="base" latinLnBrk="0" hangingPunct="1">
        <a:spcBef>
          <a:spcPct val="0"/>
        </a:spcBef>
        <a:spcAft>
          <a:spcPct val="0"/>
        </a:spcAft>
        <a:defRPr lang="en-US" sz="1500" b="0" kern="1200" cap="all" baseline="0" dirty="0" smtClean="0">
          <a:solidFill>
            <a:schemeClr val="tx1"/>
          </a:solidFill>
          <a:latin typeface="+mn-lt"/>
          <a:ea typeface="+mj-ea"/>
          <a:cs typeface="Helvetica" panose="020B0604020202020204" pitchFamily="34" charset="0"/>
        </a:defRPr>
      </a:lvl1pPr>
      <a:lvl2pPr algn="l" rtl="0" eaLnBrk="1" fontAlgn="base" hangingPunct="1">
        <a:spcBef>
          <a:spcPct val="0"/>
        </a:spcBef>
        <a:spcAft>
          <a:spcPct val="0"/>
        </a:spcAft>
        <a:defRPr sz="1800">
          <a:solidFill>
            <a:srgbClr val="2A3647"/>
          </a:solidFill>
          <a:latin typeface="Cambria" pitchFamily="18" charset="0"/>
        </a:defRPr>
      </a:lvl2pPr>
      <a:lvl3pPr algn="l" rtl="0" eaLnBrk="1" fontAlgn="base" hangingPunct="1">
        <a:spcBef>
          <a:spcPct val="0"/>
        </a:spcBef>
        <a:spcAft>
          <a:spcPct val="0"/>
        </a:spcAft>
        <a:defRPr sz="1800">
          <a:solidFill>
            <a:srgbClr val="2A3647"/>
          </a:solidFill>
          <a:latin typeface="Cambria" pitchFamily="18" charset="0"/>
        </a:defRPr>
      </a:lvl3pPr>
      <a:lvl4pPr algn="l" rtl="0" eaLnBrk="1" fontAlgn="base" hangingPunct="1">
        <a:spcBef>
          <a:spcPct val="0"/>
        </a:spcBef>
        <a:spcAft>
          <a:spcPct val="0"/>
        </a:spcAft>
        <a:defRPr sz="1800">
          <a:solidFill>
            <a:srgbClr val="2A3647"/>
          </a:solidFill>
          <a:latin typeface="Cambria" pitchFamily="18" charset="0"/>
        </a:defRPr>
      </a:lvl4pPr>
      <a:lvl5pPr algn="l" rtl="0" eaLnBrk="1" fontAlgn="base" hangingPunct="1">
        <a:spcBef>
          <a:spcPct val="0"/>
        </a:spcBef>
        <a:spcAft>
          <a:spcPct val="0"/>
        </a:spcAft>
        <a:defRPr sz="1800">
          <a:solidFill>
            <a:srgbClr val="2A3647"/>
          </a:solidFill>
          <a:latin typeface="Cambria" pitchFamily="18" charset="0"/>
        </a:defRPr>
      </a:lvl5pPr>
      <a:lvl6pPr marL="342911" algn="l" rtl="0" eaLnBrk="1" fontAlgn="base" hangingPunct="1">
        <a:spcBef>
          <a:spcPct val="0"/>
        </a:spcBef>
        <a:spcAft>
          <a:spcPct val="0"/>
        </a:spcAft>
        <a:defRPr sz="1800">
          <a:solidFill>
            <a:schemeClr val="tx2"/>
          </a:solidFill>
          <a:latin typeface="Cambria" pitchFamily="18" charset="0"/>
        </a:defRPr>
      </a:lvl6pPr>
      <a:lvl7pPr marL="685821" algn="l" rtl="0" eaLnBrk="1" fontAlgn="base" hangingPunct="1">
        <a:spcBef>
          <a:spcPct val="0"/>
        </a:spcBef>
        <a:spcAft>
          <a:spcPct val="0"/>
        </a:spcAft>
        <a:defRPr sz="1800">
          <a:solidFill>
            <a:schemeClr val="tx2"/>
          </a:solidFill>
          <a:latin typeface="Cambria" pitchFamily="18" charset="0"/>
        </a:defRPr>
      </a:lvl7pPr>
      <a:lvl8pPr marL="1028732" algn="l" rtl="0" eaLnBrk="1" fontAlgn="base" hangingPunct="1">
        <a:spcBef>
          <a:spcPct val="0"/>
        </a:spcBef>
        <a:spcAft>
          <a:spcPct val="0"/>
        </a:spcAft>
        <a:defRPr sz="1800">
          <a:solidFill>
            <a:schemeClr val="tx2"/>
          </a:solidFill>
          <a:latin typeface="Cambria" pitchFamily="18" charset="0"/>
        </a:defRPr>
      </a:lvl8pPr>
      <a:lvl9pPr marL="1371643" algn="l" rtl="0" eaLnBrk="1" fontAlgn="base" hangingPunct="1">
        <a:spcBef>
          <a:spcPct val="0"/>
        </a:spcBef>
        <a:spcAft>
          <a:spcPct val="0"/>
        </a:spcAft>
        <a:defRPr sz="1800">
          <a:solidFill>
            <a:schemeClr val="tx2"/>
          </a:solidFill>
          <a:latin typeface="Cambria" pitchFamily="18" charset="0"/>
        </a:defRPr>
      </a:lvl9pPr>
    </p:titleStyle>
    <p:bodyStyle>
      <a:lvl1pPr marL="204794" indent="-204794" algn="l" rtl="0" eaLnBrk="1" fontAlgn="base" hangingPunct="1">
        <a:lnSpc>
          <a:spcPct val="114000"/>
        </a:lnSpc>
        <a:spcBef>
          <a:spcPts val="900"/>
        </a:spcBef>
        <a:spcAft>
          <a:spcPct val="0"/>
        </a:spcAft>
        <a:buClrTx/>
        <a:buSzPct val="100000"/>
        <a:buFont typeface="Wingdings" pitchFamily="2" charset="2"/>
        <a:buChar char="§"/>
        <a:defRPr sz="788" kern="1200">
          <a:solidFill>
            <a:schemeClr val="tx1"/>
          </a:solidFill>
          <a:latin typeface="+mn-lt"/>
          <a:ea typeface="+mn-ea"/>
          <a:cs typeface="+mn-cs"/>
        </a:defRPr>
      </a:lvl1pPr>
      <a:lvl2pPr marL="410779" indent="-204794" algn="l" rtl="0" eaLnBrk="1" fontAlgn="base" hangingPunct="1">
        <a:lnSpc>
          <a:spcPct val="114000"/>
        </a:lnSpc>
        <a:spcBef>
          <a:spcPts val="225"/>
        </a:spcBef>
        <a:spcAft>
          <a:spcPts val="225"/>
        </a:spcAft>
        <a:buClrTx/>
        <a:buSzPct val="76000"/>
        <a:buFont typeface="Wingdings" pitchFamily="2" charset="2"/>
        <a:buChar char="q"/>
        <a:defRPr lang="en-US" sz="713" kern="1200" dirty="0" smtClean="0">
          <a:solidFill>
            <a:schemeClr val="tx1"/>
          </a:solidFill>
          <a:latin typeface="+mn-lt"/>
          <a:ea typeface="+mn-ea"/>
          <a:cs typeface="+mn-cs"/>
        </a:defRPr>
      </a:lvl2pPr>
      <a:lvl3pPr marL="616763" indent="-171456" algn="l" rtl="0" eaLnBrk="1" fontAlgn="base" hangingPunct="1">
        <a:spcBef>
          <a:spcPct val="0"/>
        </a:spcBef>
        <a:spcAft>
          <a:spcPts val="225"/>
        </a:spcAft>
        <a:buClrTx/>
        <a:buSzPct val="76000"/>
        <a:buFont typeface="Wingdings" panose="05000000000000000000" pitchFamily="2" charset="2"/>
        <a:buChar char="Ø"/>
        <a:defRPr sz="675" kern="1200">
          <a:solidFill>
            <a:schemeClr val="tx1"/>
          </a:solidFill>
          <a:latin typeface="+mn-lt"/>
          <a:ea typeface="+mn-ea"/>
          <a:cs typeface="+mn-cs"/>
        </a:defRPr>
      </a:lvl3pPr>
      <a:lvl4pPr marL="822748" indent="-171456" algn="l" rtl="0" eaLnBrk="1" fontAlgn="base" hangingPunct="1">
        <a:spcBef>
          <a:spcPts val="225"/>
        </a:spcBef>
        <a:spcAft>
          <a:spcPts val="225"/>
        </a:spcAft>
        <a:buClr>
          <a:srgbClr val="797951"/>
        </a:buClr>
        <a:buSzPct val="70000"/>
        <a:buFont typeface="Wingdings" pitchFamily="2" charset="2"/>
        <a:buChar char=""/>
        <a:defRPr sz="825" kern="1200">
          <a:solidFill>
            <a:schemeClr val="tx1"/>
          </a:solidFill>
          <a:latin typeface="+mn-lt"/>
          <a:ea typeface="+mn-ea"/>
          <a:cs typeface="+mn-cs"/>
        </a:defRPr>
      </a:lvl4pPr>
      <a:lvl5pPr marL="1028732" indent="-171456" algn="l" rtl="0" eaLnBrk="1" fontAlgn="base" hangingPunct="1">
        <a:spcBef>
          <a:spcPts val="225"/>
        </a:spcBef>
        <a:spcAft>
          <a:spcPts val="225"/>
        </a:spcAft>
        <a:buClr>
          <a:schemeClr val="accent2"/>
        </a:buClr>
        <a:buSzPct val="70000"/>
        <a:buFont typeface="Wingdings" pitchFamily="2" charset="2"/>
        <a:buChar char="Ø"/>
        <a:defRPr sz="825" i="1" kern="1200">
          <a:solidFill>
            <a:schemeClr val="tx1"/>
          </a:solidFill>
          <a:latin typeface="+mn-lt"/>
          <a:ea typeface="+mn-ea"/>
          <a:cs typeface="+mn-cs"/>
        </a:defRPr>
      </a:lvl5pPr>
      <a:lvl6pPr marL="1234479" indent="-137165"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43" indent="-137165"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807" indent="-137165"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71" indent="-137165"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11" algn="l" rtl="0" eaLnBrk="1" latinLnBrk="0" hangingPunct="1">
        <a:defRPr kumimoji="0" kern="1200">
          <a:solidFill>
            <a:schemeClr val="tx1"/>
          </a:solidFill>
          <a:latin typeface="+mn-lt"/>
          <a:ea typeface="+mn-ea"/>
          <a:cs typeface="+mn-cs"/>
        </a:defRPr>
      </a:lvl2pPr>
      <a:lvl3pPr marL="685821" algn="l" rtl="0" eaLnBrk="1" latinLnBrk="0" hangingPunct="1">
        <a:defRPr kumimoji="0" kern="1200">
          <a:solidFill>
            <a:schemeClr val="tx1"/>
          </a:solidFill>
          <a:latin typeface="+mn-lt"/>
          <a:ea typeface="+mn-ea"/>
          <a:cs typeface="+mn-cs"/>
        </a:defRPr>
      </a:lvl3pPr>
      <a:lvl4pPr marL="1028732" algn="l" rtl="0" eaLnBrk="1" latinLnBrk="0" hangingPunct="1">
        <a:defRPr kumimoji="0" kern="1200">
          <a:solidFill>
            <a:schemeClr val="tx1"/>
          </a:solidFill>
          <a:latin typeface="+mn-lt"/>
          <a:ea typeface="+mn-ea"/>
          <a:cs typeface="+mn-cs"/>
        </a:defRPr>
      </a:lvl4pPr>
      <a:lvl5pPr marL="1371643" algn="l" rtl="0" eaLnBrk="1" latinLnBrk="0" hangingPunct="1">
        <a:defRPr kumimoji="0" kern="1200">
          <a:solidFill>
            <a:schemeClr val="tx1"/>
          </a:solidFill>
          <a:latin typeface="+mn-lt"/>
          <a:ea typeface="+mn-ea"/>
          <a:cs typeface="+mn-cs"/>
        </a:defRPr>
      </a:lvl5pPr>
      <a:lvl6pPr marL="1714553" algn="l" rtl="0" eaLnBrk="1" latinLnBrk="0" hangingPunct="1">
        <a:defRPr kumimoji="0" kern="1200">
          <a:solidFill>
            <a:schemeClr val="tx1"/>
          </a:solidFill>
          <a:latin typeface="+mn-lt"/>
          <a:ea typeface="+mn-ea"/>
          <a:cs typeface="+mn-cs"/>
        </a:defRPr>
      </a:lvl6pPr>
      <a:lvl7pPr marL="2057464" algn="l" rtl="0" eaLnBrk="1" latinLnBrk="0" hangingPunct="1">
        <a:defRPr kumimoji="0" kern="1200">
          <a:solidFill>
            <a:schemeClr val="tx1"/>
          </a:solidFill>
          <a:latin typeface="+mn-lt"/>
          <a:ea typeface="+mn-ea"/>
          <a:cs typeface="+mn-cs"/>
        </a:defRPr>
      </a:lvl7pPr>
      <a:lvl8pPr marL="2400375" algn="l" rtl="0" eaLnBrk="1" latinLnBrk="0" hangingPunct="1">
        <a:defRPr kumimoji="0" kern="1200">
          <a:solidFill>
            <a:schemeClr val="tx1"/>
          </a:solidFill>
          <a:latin typeface="+mn-lt"/>
          <a:ea typeface="+mn-ea"/>
          <a:cs typeface="+mn-cs"/>
        </a:defRPr>
      </a:lvl8pPr>
      <a:lvl9pPr marL="274328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BDE1C34-4C1F-0F76-7914-30AE355BAF2F}"/>
              </a:ext>
            </a:extLst>
          </p:cNvPr>
          <p:cNvSpPr>
            <a:spLocks noGrp="1"/>
          </p:cNvSpPr>
          <p:nvPr>
            <p:ph type="title"/>
          </p:nvPr>
        </p:nvSpPr>
        <p:spPr/>
        <p:txBody>
          <a:bodyPr/>
          <a:lstStyle/>
          <a:p>
            <a:r>
              <a:rPr lang="en-GB" sz="1800" dirty="0">
                <a:latin typeface="Arial" panose="020B0604020202020204" pitchFamily="34" charset="0"/>
                <a:cs typeface="Arial" panose="020B0604020202020204" pitchFamily="34" charset="0"/>
              </a:rPr>
              <a:t>Nintendo | </a:t>
            </a:r>
            <a:r>
              <a:rPr lang="en-GB" sz="1800" b="0" dirty="0">
                <a:latin typeface="Arial" panose="020B0604020202020204" pitchFamily="34" charset="0"/>
                <a:cs typeface="Arial" panose="020B0604020202020204" pitchFamily="34" charset="0"/>
              </a:rPr>
              <a:t>Company profile</a:t>
            </a:r>
            <a:endParaRPr lang="en-US" sz="1800" dirty="0"/>
          </a:p>
        </p:txBody>
      </p:sp>
      <p:sp>
        <p:nvSpPr>
          <p:cNvPr id="4" name="TextBox 3">
            <a:extLst>
              <a:ext uri="{FF2B5EF4-FFF2-40B4-BE49-F238E27FC236}">
                <a16:creationId xmlns:a16="http://schemas.microsoft.com/office/drawing/2014/main" id="{0AAE8A2C-7C01-0299-C59D-F0B18C1A880F}"/>
              </a:ext>
            </a:extLst>
          </p:cNvPr>
          <p:cNvSpPr txBox="1"/>
          <p:nvPr/>
        </p:nvSpPr>
        <p:spPr>
          <a:xfrm>
            <a:off x="4613910" y="925832"/>
            <a:ext cx="2446020" cy="307777"/>
          </a:xfrm>
          <a:prstGeom prst="rect">
            <a:avLst/>
          </a:prstGeom>
          <a:noFill/>
        </p:spPr>
        <p:txBody>
          <a:bodyPr wrap="square" rtlCol="0">
            <a:spAutoFit/>
          </a:bodyPr>
          <a:lstStyle/>
          <a:p>
            <a:r>
              <a:rPr lang="en-US" sz="1400" b="1" dirty="0"/>
              <a:t>Overview</a:t>
            </a:r>
          </a:p>
        </p:txBody>
      </p:sp>
      <p:sp>
        <p:nvSpPr>
          <p:cNvPr id="5" name="TextBox 4">
            <a:extLst>
              <a:ext uri="{FF2B5EF4-FFF2-40B4-BE49-F238E27FC236}">
                <a16:creationId xmlns:a16="http://schemas.microsoft.com/office/drawing/2014/main" id="{7B885E75-DEB6-8E25-245E-F80DE68A9890}"/>
              </a:ext>
            </a:extLst>
          </p:cNvPr>
          <p:cNvSpPr txBox="1"/>
          <p:nvPr/>
        </p:nvSpPr>
        <p:spPr>
          <a:xfrm>
            <a:off x="4572000" y="3028335"/>
            <a:ext cx="2446020" cy="307777"/>
          </a:xfrm>
          <a:prstGeom prst="rect">
            <a:avLst/>
          </a:prstGeom>
          <a:noFill/>
        </p:spPr>
        <p:txBody>
          <a:bodyPr wrap="square" rtlCol="0">
            <a:spAutoFit/>
          </a:bodyPr>
          <a:lstStyle/>
          <a:p>
            <a:r>
              <a:rPr lang="en-US" sz="1400" b="1" dirty="0"/>
              <a:t>Strategic Rationale</a:t>
            </a:r>
          </a:p>
        </p:txBody>
      </p:sp>
      <p:sp>
        <p:nvSpPr>
          <p:cNvPr id="7" name="TextBox 6">
            <a:extLst>
              <a:ext uri="{FF2B5EF4-FFF2-40B4-BE49-F238E27FC236}">
                <a16:creationId xmlns:a16="http://schemas.microsoft.com/office/drawing/2014/main" id="{D71EE2EE-5101-F088-255A-AE19C8FD8516}"/>
              </a:ext>
            </a:extLst>
          </p:cNvPr>
          <p:cNvSpPr txBox="1"/>
          <p:nvPr/>
        </p:nvSpPr>
        <p:spPr>
          <a:xfrm>
            <a:off x="4572000" y="3306049"/>
            <a:ext cx="4267199" cy="1169551"/>
          </a:xfrm>
          <a:prstGeom prst="rect">
            <a:avLst/>
          </a:prstGeom>
          <a:noFill/>
        </p:spPr>
        <p:txBody>
          <a:bodyPr wrap="square">
            <a:spAutoFit/>
          </a:bodyPr>
          <a:lstStyle/>
          <a:p>
            <a:pPr marL="285750" indent="-285750">
              <a:buFont typeface="Arial" panose="020B0604020202020204" pitchFamily="34" charset="0"/>
              <a:buChar char="•"/>
            </a:pPr>
            <a:r>
              <a:rPr lang="en-US" sz="1000" b="1" dirty="0"/>
              <a:t>Strengthen Gaming Capabilities </a:t>
            </a:r>
            <a:r>
              <a:rPr lang="en-US" sz="1000" dirty="0"/>
              <a:t>– </a:t>
            </a:r>
            <a:r>
              <a:rPr lang="en-US" sz="1000" dirty="0" err="1"/>
              <a:t>Webflix</a:t>
            </a:r>
            <a:r>
              <a:rPr lang="en-US" sz="1000" dirty="0"/>
              <a:t> would be able to immediately accelerate its internal video game content capabilities, allowing it to create stronger, “stickier” relationships with its existing customer base while also serving to expand the size of its total addressable market </a:t>
            </a:r>
          </a:p>
          <a:p>
            <a:pPr marL="285750" indent="-285750">
              <a:buFont typeface="Arial" panose="020B0604020202020204" pitchFamily="34" charset="0"/>
              <a:buChar char="•"/>
            </a:pPr>
            <a:r>
              <a:rPr lang="en-US" sz="1000" b="1" dirty="0"/>
              <a:t>Deepen Penetration in APAC Region</a:t>
            </a:r>
            <a:r>
              <a:rPr lang="en-US" sz="1000" dirty="0"/>
              <a:t>– By acquiring Nintendo, </a:t>
            </a:r>
            <a:r>
              <a:rPr lang="en-US" sz="1000" dirty="0" err="1"/>
              <a:t>Webflix</a:t>
            </a:r>
            <a:r>
              <a:rPr lang="en-US" sz="1000" dirty="0"/>
              <a:t> would be able to bolster its market penetration in the key Asia-Pacific region, for which it generated </a:t>
            </a:r>
          </a:p>
        </p:txBody>
      </p:sp>
      <p:pic>
        <p:nvPicPr>
          <p:cNvPr id="9" name="Picture 8">
            <a:extLst>
              <a:ext uri="{FF2B5EF4-FFF2-40B4-BE49-F238E27FC236}">
                <a16:creationId xmlns:a16="http://schemas.microsoft.com/office/drawing/2014/main" id="{133BE52A-6B65-914A-345C-2C5E926194DC}"/>
              </a:ext>
            </a:extLst>
          </p:cNvPr>
          <p:cNvPicPr>
            <a:picLocks noChangeAspect="1"/>
          </p:cNvPicPr>
          <p:nvPr/>
        </p:nvPicPr>
        <p:blipFill>
          <a:blip r:embed="rId3"/>
          <a:stretch>
            <a:fillRect/>
          </a:stretch>
        </p:blipFill>
        <p:spPr>
          <a:xfrm>
            <a:off x="304801" y="781585"/>
            <a:ext cx="1663700" cy="520700"/>
          </a:xfrm>
          <a:prstGeom prst="rect">
            <a:avLst/>
          </a:prstGeom>
        </p:spPr>
      </p:pic>
      <p:graphicFrame>
        <p:nvGraphicFramePr>
          <p:cNvPr id="11" name="Table 11">
            <a:extLst>
              <a:ext uri="{FF2B5EF4-FFF2-40B4-BE49-F238E27FC236}">
                <a16:creationId xmlns:a16="http://schemas.microsoft.com/office/drawing/2014/main" id="{319C28B4-E1FD-97CB-D3FF-40AB71F73489}"/>
              </a:ext>
            </a:extLst>
          </p:cNvPr>
          <p:cNvGraphicFramePr>
            <a:graphicFrameLocks noGrp="1"/>
          </p:cNvGraphicFramePr>
          <p:nvPr>
            <p:extLst>
              <p:ext uri="{D42A27DB-BD31-4B8C-83A1-F6EECF244321}">
                <p14:modId xmlns:p14="http://schemas.microsoft.com/office/powerpoint/2010/main" val="3633151531"/>
              </p:ext>
            </p:extLst>
          </p:nvPr>
        </p:nvGraphicFramePr>
        <p:xfrm>
          <a:off x="304801" y="1303656"/>
          <a:ext cx="2084069" cy="1112520"/>
        </p:xfrm>
        <a:graphic>
          <a:graphicData uri="http://schemas.openxmlformats.org/drawingml/2006/table">
            <a:tbl>
              <a:tblPr firstRow="1" bandRow="1">
                <a:tableStyleId>{073A0DAA-6AF3-43AB-8588-CEC1D06C72B9}</a:tableStyleId>
              </a:tblPr>
              <a:tblGrid>
                <a:gridCol w="1598638">
                  <a:extLst>
                    <a:ext uri="{9D8B030D-6E8A-4147-A177-3AD203B41FA5}">
                      <a16:colId xmlns:a16="http://schemas.microsoft.com/office/drawing/2014/main" val="4126971592"/>
                    </a:ext>
                  </a:extLst>
                </a:gridCol>
                <a:gridCol w="485431">
                  <a:extLst>
                    <a:ext uri="{9D8B030D-6E8A-4147-A177-3AD203B41FA5}">
                      <a16:colId xmlns:a16="http://schemas.microsoft.com/office/drawing/2014/main" val="1071492639"/>
                    </a:ext>
                  </a:extLst>
                </a:gridCol>
              </a:tblGrid>
              <a:tr h="370840">
                <a:tc>
                  <a:txBody>
                    <a:bodyPr/>
                    <a:lstStyle/>
                    <a:p>
                      <a:r>
                        <a:rPr lang="en-US" sz="1200" dirty="0">
                          <a:solidFill>
                            <a:schemeClr val="tx1"/>
                          </a:solidFill>
                        </a:rPr>
                        <a:t>Revenue  </a:t>
                      </a:r>
                      <a:r>
                        <a:rPr lang="en-US" sz="1100" dirty="0">
                          <a:solidFill>
                            <a:schemeClr val="tx1"/>
                          </a:solidFill>
                        </a:rPr>
                        <a:t>$ 2,96,97,844</a:t>
                      </a:r>
                    </a:p>
                  </a:txBody>
                  <a:tcPr>
                    <a:noFill/>
                  </a:tcPr>
                </a:tc>
                <a:tc>
                  <a:txBody>
                    <a:bodyPr/>
                    <a:lstStyle/>
                    <a:p>
                      <a:pPr algn="r"/>
                      <a:r>
                        <a:rPr lang="en-US" sz="1200" dirty="0">
                          <a:solidFill>
                            <a:schemeClr val="tx1"/>
                          </a:solidFill>
                        </a:rPr>
                        <a:t> </a:t>
                      </a:r>
                    </a:p>
                  </a:txBody>
                  <a:tcPr>
                    <a:noFill/>
                  </a:tcPr>
                </a:tc>
                <a:extLst>
                  <a:ext uri="{0D108BD9-81ED-4DB2-BD59-A6C34878D82A}">
                    <a16:rowId xmlns:a16="http://schemas.microsoft.com/office/drawing/2014/main" val="1945779635"/>
                  </a:ext>
                </a:extLst>
              </a:tr>
              <a:tr h="370840">
                <a:tc>
                  <a:txBody>
                    <a:bodyPr/>
                    <a:lstStyle/>
                    <a:p>
                      <a:r>
                        <a:rPr lang="en-US" sz="1200" b="1" dirty="0">
                          <a:solidFill>
                            <a:schemeClr val="tx1"/>
                          </a:solidFill>
                        </a:rPr>
                        <a:t>EBITDA      </a:t>
                      </a:r>
                      <a:r>
                        <a:rPr lang="en-US" sz="1100" b="1" dirty="0">
                          <a:solidFill>
                            <a:schemeClr val="tx1"/>
                          </a:solidFill>
                        </a:rPr>
                        <a:t>$ 64,02,921</a:t>
                      </a:r>
                    </a:p>
                  </a:txBody>
                  <a:tcPr>
                    <a:noFill/>
                  </a:tcPr>
                </a:tc>
                <a:tc>
                  <a:txBody>
                    <a:bodyPr/>
                    <a:lstStyle/>
                    <a:p>
                      <a:endParaRPr lang="en-US" sz="1200">
                        <a:solidFill>
                          <a:schemeClr val="tx1"/>
                        </a:solidFill>
                      </a:endParaRPr>
                    </a:p>
                  </a:txBody>
                  <a:tcPr>
                    <a:noFill/>
                  </a:tcPr>
                </a:tc>
                <a:extLst>
                  <a:ext uri="{0D108BD9-81ED-4DB2-BD59-A6C34878D82A}">
                    <a16:rowId xmlns:a16="http://schemas.microsoft.com/office/drawing/2014/main" val="394691834"/>
                  </a:ext>
                </a:extLst>
              </a:tr>
              <a:tr h="370840">
                <a:tc>
                  <a:txBody>
                    <a:bodyPr/>
                    <a:lstStyle/>
                    <a:p>
                      <a:r>
                        <a:rPr lang="en-US" sz="1200" b="1" dirty="0">
                          <a:solidFill>
                            <a:schemeClr val="tx1"/>
                          </a:solidFill>
                        </a:rPr>
                        <a:t>Equity Value  $98,802</a:t>
                      </a: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1556103973"/>
                  </a:ext>
                </a:extLst>
              </a:tr>
            </a:tbl>
          </a:graphicData>
        </a:graphic>
      </p:graphicFrame>
      <p:graphicFrame>
        <p:nvGraphicFramePr>
          <p:cNvPr id="12" name="Table 11">
            <a:extLst>
              <a:ext uri="{FF2B5EF4-FFF2-40B4-BE49-F238E27FC236}">
                <a16:creationId xmlns:a16="http://schemas.microsoft.com/office/drawing/2014/main" id="{29D97120-9296-57A9-F615-A784D206615B}"/>
              </a:ext>
            </a:extLst>
          </p:cNvPr>
          <p:cNvGraphicFramePr>
            <a:graphicFrameLocks noGrp="1"/>
          </p:cNvGraphicFramePr>
          <p:nvPr>
            <p:extLst>
              <p:ext uri="{D42A27DB-BD31-4B8C-83A1-F6EECF244321}">
                <p14:modId xmlns:p14="http://schemas.microsoft.com/office/powerpoint/2010/main" val="623520606"/>
              </p:ext>
            </p:extLst>
          </p:nvPr>
        </p:nvGraphicFramePr>
        <p:xfrm>
          <a:off x="2396490" y="738216"/>
          <a:ext cx="2175510" cy="1598806"/>
        </p:xfrm>
        <a:graphic>
          <a:graphicData uri="http://schemas.openxmlformats.org/drawingml/2006/table">
            <a:tbl>
              <a:tblPr firstRow="1" bandRow="1">
                <a:tableStyleId>{073A0DAA-6AF3-43AB-8588-CEC1D06C72B9}</a:tableStyleId>
              </a:tblPr>
              <a:tblGrid>
                <a:gridCol w="1087755">
                  <a:extLst>
                    <a:ext uri="{9D8B030D-6E8A-4147-A177-3AD203B41FA5}">
                      <a16:colId xmlns:a16="http://schemas.microsoft.com/office/drawing/2014/main" val="4126971592"/>
                    </a:ext>
                  </a:extLst>
                </a:gridCol>
                <a:gridCol w="1087755">
                  <a:extLst>
                    <a:ext uri="{9D8B030D-6E8A-4147-A177-3AD203B41FA5}">
                      <a16:colId xmlns:a16="http://schemas.microsoft.com/office/drawing/2014/main" val="1071492639"/>
                    </a:ext>
                  </a:extLst>
                </a:gridCol>
              </a:tblGrid>
              <a:tr h="406105">
                <a:tc>
                  <a:txBody>
                    <a:bodyPr/>
                    <a:lstStyle/>
                    <a:p>
                      <a:r>
                        <a:rPr lang="en-US" sz="1200" dirty="0">
                          <a:solidFill>
                            <a:schemeClr val="tx1"/>
                          </a:solidFill>
                        </a:rPr>
                        <a:t>Headquarters</a:t>
                      </a:r>
                    </a:p>
                  </a:txBody>
                  <a:tcPr>
                    <a:noFill/>
                  </a:tcPr>
                </a:tc>
                <a:tc>
                  <a:txBody>
                    <a:bodyPr/>
                    <a:lstStyle/>
                    <a:p>
                      <a:pPr algn="r"/>
                      <a:r>
                        <a:rPr lang="en-US" sz="1200" dirty="0">
                          <a:solidFill>
                            <a:schemeClr val="tx1"/>
                          </a:solidFill>
                        </a:rPr>
                        <a:t>Kyoto, Japan</a:t>
                      </a:r>
                    </a:p>
                  </a:txBody>
                  <a:tcPr>
                    <a:noFill/>
                  </a:tcPr>
                </a:tc>
                <a:extLst>
                  <a:ext uri="{0D108BD9-81ED-4DB2-BD59-A6C34878D82A}">
                    <a16:rowId xmlns:a16="http://schemas.microsoft.com/office/drawing/2014/main" val="4202442930"/>
                  </a:ext>
                </a:extLst>
              </a:tr>
              <a:tr h="329396">
                <a:tc>
                  <a:txBody>
                    <a:bodyPr/>
                    <a:lstStyle/>
                    <a:p>
                      <a:r>
                        <a:rPr lang="en-US" sz="1200" b="1" dirty="0">
                          <a:solidFill>
                            <a:schemeClr val="tx1"/>
                          </a:solidFill>
                        </a:rPr>
                        <a:t>Founded</a:t>
                      </a:r>
                    </a:p>
                  </a:txBody>
                  <a:tcPr>
                    <a:noFill/>
                  </a:tcPr>
                </a:tc>
                <a:tc>
                  <a:txBody>
                    <a:bodyPr/>
                    <a:lstStyle/>
                    <a:p>
                      <a:pPr algn="r"/>
                      <a:r>
                        <a:rPr lang="en-US" sz="1200" b="1" dirty="0">
                          <a:solidFill>
                            <a:schemeClr val="tx1"/>
                          </a:solidFill>
                        </a:rPr>
                        <a:t>1947</a:t>
                      </a:r>
                      <a:endParaRPr lang="en-US" sz="1200" dirty="0">
                        <a:solidFill>
                          <a:schemeClr val="tx1"/>
                        </a:solidFill>
                      </a:endParaRPr>
                    </a:p>
                  </a:txBody>
                  <a:tcPr>
                    <a:noFill/>
                  </a:tcPr>
                </a:tc>
                <a:extLst>
                  <a:ext uri="{0D108BD9-81ED-4DB2-BD59-A6C34878D82A}">
                    <a16:rowId xmlns:a16="http://schemas.microsoft.com/office/drawing/2014/main" val="1945779635"/>
                  </a:ext>
                </a:extLst>
              </a:tr>
              <a:tr h="406105">
                <a:tc>
                  <a:txBody>
                    <a:bodyPr/>
                    <a:lstStyle/>
                    <a:p>
                      <a:r>
                        <a:rPr lang="en-US" sz="1200" b="1" dirty="0">
                          <a:solidFill>
                            <a:schemeClr val="tx1"/>
                          </a:solidFill>
                        </a:rPr>
                        <a:t># Employees</a:t>
                      </a:r>
                    </a:p>
                  </a:txBody>
                  <a:tcPr>
                    <a:noFill/>
                  </a:tcPr>
                </a:tc>
                <a:tc>
                  <a:txBody>
                    <a:bodyPr/>
                    <a:lstStyle/>
                    <a:p>
                      <a:r>
                        <a:rPr lang="en-US" sz="1200" b="1" dirty="0">
                          <a:solidFill>
                            <a:schemeClr val="tx1"/>
                          </a:solidFill>
                        </a:rPr>
                        <a:t>6,574</a:t>
                      </a:r>
                      <a:endParaRPr lang="en-US" sz="1200" dirty="0">
                        <a:solidFill>
                          <a:schemeClr val="tx1"/>
                        </a:solidFill>
                      </a:endParaRPr>
                    </a:p>
                  </a:txBody>
                  <a:tcPr>
                    <a:noFill/>
                  </a:tcPr>
                </a:tc>
                <a:extLst>
                  <a:ext uri="{0D108BD9-81ED-4DB2-BD59-A6C34878D82A}">
                    <a16:rowId xmlns:a16="http://schemas.microsoft.com/office/drawing/2014/main" val="394691834"/>
                  </a:ext>
                </a:extLst>
              </a:tr>
              <a:tr h="406105">
                <a:tc>
                  <a:txBody>
                    <a:bodyPr/>
                    <a:lstStyle/>
                    <a:p>
                      <a:r>
                        <a:rPr lang="en-US" sz="1200" b="1" dirty="0">
                          <a:solidFill>
                            <a:schemeClr val="tx1"/>
                          </a:solidFill>
                        </a:rPr>
                        <a:t>President</a:t>
                      </a:r>
                    </a:p>
                  </a:txBody>
                  <a:tcPr>
                    <a:noFill/>
                  </a:tcPr>
                </a:tc>
                <a:tc>
                  <a:txBody>
                    <a:bodyPr/>
                    <a:lstStyle/>
                    <a:p>
                      <a:r>
                        <a:rPr lang="en-US" sz="1100" b="1" dirty="0">
                          <a:solidFill>
                            <a:schemeClr val="tx1"/>
                          </a:solidFill>
                        </a:rPr>
                        <a:t>Shigeru</a:t>
                      </a:r>
                      <a:r>
                        <a:rPr lang="en-US" sz="1200" b="1" dirty="0">
                          <a:solidFill>
                            <a:schemeClr val="tx1"/>
                          </a:solidFill>
                        </a:rPr>
                        <a:t> Miyamoto</a:t>
                      </a:r>
                      <a:endParaRPr lang="en-US" sz="1200" dirty="0">
                        <a:solidFill>
                          <a:schemeClr val="tx1"/>
                        </a:solidFill>
                      </a:endParaRPr>
                    </a:p>
                  </a:txBody>
                  <a:tcPr>
                    <a:noFill/>
                  </a:tcPr>
                </a:tc>
                <a:extLst>
                  <a:ext uri="{0D108BD9-81ED-4DB2-BD59-A6C34878D82A}">
                    <a16:rowId xmlns:a16="http://schemas.microsoft.com/office/drawing/2014/main" val="1556103973"/>
                  </a:ext>
                </a:extLst>
              </a:tr>
            </a:tbl>
          </a:graphicData>
        </a:graphic>
      </p:graphicFrame>
      <p:pic>
        <p:nvPicPr>
          <p:cNvPr id="14" name="Picture 13">
            <a:extLst>
              <a:ext uri="{FF2B5EF4-FFF2-40B4-BE49-F238E27FC236}">
                <a16:creationId xmlns:a16="http://schemas.microsoft.com/office/drawing/2014/main" id="{9EC4D4BE-A9EF-77F7-8C77-09D0B4105616}"/>
              </a:ext>
            </a:extLst>
          </p:cNvPr>
          <p:cNvPicPr>
            <a:picLocks noChangeAspect="1"/>
          </p:cNvPicPr>
          <p:nvPr/>
        </p:nvPicPr>
        <p:blipFill>
          <a:blip r:embed="rId4"/>
          <a:stretch>
            <a:fillRect/>
          </a:stretch>
        </p:blipFill>
        <p:spPr>
          <a:xfrm>
            <a:off x="4873595" y="5199192"/>
            <a:ext cx="4007514" cy="1465952"/>
          </a:xfrm>
          <a:prstGeom prst="rect">
            <a:avLst/>
          </a:prstGeom>
        </p:spPr>
      </p:pic>
      <p:sp>
        <p:nvSpPr>
          <p:cNvPr id="17" name="Rectangle 16">
            <a:extLst>
              <a:ext uri="{FF2B5EF4-FFF2-40B4-BE49-F238E27FC236}">
                <a16:creationId xmlns:a16="http://schemas.microsoft.com/office/drawing/2014/main" id="{4870C368-27B3-571F-CD95-675EDA3E14F0}"/>
              </a:ext>
            </a:extLst>
          </p:cNvPr>
          <p:cNvSpPr/>
          <p:nvPr/>
        </p:nvSpPr>
        <p:spPr bwMode="auto">
          <a:xfrm>
            <a:off x="-5015346" y="3299122"/>
            <a:ext cx="4175759" cy="1549146"/>
          </a:xfrm>
          <a:prstGeom prst="rect">
            <a:avLst/>
          </a:prstGeom>
          <a:solidFill>
            <a:srgbClr val="FFFF00"/>
          </a:solidFill>
          <a:ln w="19050" cap="rnd" cmpd="sng">
            <a:solidFill>
              <a:schemeClr val="tx1"/>
            </a:solidFill>
            <a:prstDash val="solid"/>
            <a:round/>
            <a:headEnd type="none" w="med" len="med"/>
            <a:tailEnd type="none" w="med" len="med"/>
          </a:ln>
          <a:effectLst/>
        </p:spPr>
        <p:txBody>
          <a:bodyPr rtlCol="0" anchor="ctr"/>
          <a:lstStyle/>
          <a:p>
            <a:pPr algn="ctr"/>
            <a:r>
              <a:rPr lang="en-US" dirty="0"/>
              <a:t>Create a chart showing Revenue and EBITDA from 2017-2021</a:t>
            </a:r>
          </a:p>
        </p:txBody>
      </p:sp>
      <p:sp>
        <p:nvSpPr>
          <p:cNvPr id="18" name="Rectangle 17">
            <a:extLst>
              <a:ext uri="{FF2B5EF4-FFF2-40B4-BE49-F238E27FC236}">
                <a16:creationId xmlns:a16="http://schemas.microsoft.com/office/drawing/2014/main" id="{6DB68349-0691-0149-B98F-1621F83C9A6D}"/>
              </a:ext>
            </a:extLst>
          </p:cNvPr>
          <p:cNvSpPr/>
          <p:nvPr/>
        </p:nvSpPr>
        <p:spPr bwMode="auto">
          <a:xfrm>
            <a:off x="-4326557" y="5239237"/>
            <a:ext cx="4175759" cy="1116706"/>
          </a:xfrm>
          <a:prstGeom prst="rect">
            <a:avLst/>
          </a:prstGeom>
          <a:solidFill>
            <a:srgbClr val="FFFF00"/>
          </a:solidFill>
          <a:ln w="19050" cap="rnd" cmpd="sng">
            <a:solidFill>
              <a:schemeClr val="tx1"/>
            </a:solidFill>
            <a:prstDash val="solid"/>
            <a:round/>
            <a:headEnd type="none" w="med" len="med"/>
            <a:tailEnd type="none" w="med" len="med"/>
          </a:ln>
          <a:effectLst/>
        </p:spPr>
        <p:txBody>
          <a:bodyPr rtlCol="0" anchor="ctr"/>
          <a:lstStyle/>
          <a:p>
            <a:pPr algn="ctr"/>
            <a:r>
              <a:rPr lang="en-US" dirty="0"/>
              <a:t>Pie chart showing Revenue by Geography</a:t>
            </a:r>
          </a:p>
        </p:txBody>
      </p:sp>
      <p:sp>
        <p:nvSpPr>
          <p:cNvPr id="21" name="Rectangle 20">
            <a:extLst>
              <a:ext uri="{FF2B5EF4-FFF2-40B4-BE49-F238E27FC236}">
                <a16:creationId xmlns:a16="http://schemas.microsoft.com/office/drawing/2014/main" id="{E7B000FE-CA2C-CE5B-8A60-4616FBAEE82C}"/>
              </a:ext>
            </a:extLst>
          </p:cNvPr>
          <p:cNvSpPr/>
          <p:nvPr/>
        </p:nvSpPr>
        <p:spPr bwMode="auto">
          <a:xfrm>
            <a:off x="-4525817" y="2267574"/>
            <a:ext cx="4175759" cy="452680"/>
          </a:xfrm>
          <a:prstGeom prst="rect">
            <a:avLst/>
          </a:prstGeom>
          <a:solidFill>
            <a:srgbClr val="FFFF00"/>
          </a:solidFill>
          <a:ln w="19050" cap="rnd" cmpd="sng">
            <a:solidFill>
              <a:schemeClr val="tx1"/>
            </a:solidFill>
            <a:prstDash val="solid"/>
            <a:round/>
            <a:headEnd type="none" w="med" len="med"/>
            <a:tailEnd type="none" w="med" len="med"/>
          </a:ln>
          <a:effectLst/>
        </p:spPr>
        <p:txBody>
          <a:bodyPr rtlCol="0" anchor="ctr"/>
          <a:lstStyle/>
          <a:p>
            <a:pPr algn="ctr"/>
            <a:r>
              <a:rPr lang="en-US" dirty="0"/>
              <a:t>Please fill in key information from the 10-K </a:t>
            </a:r>
          </a:p>
        </p:txBody>
      </p:sp>
      <p:sp>
        <p:nvSpPr>
          <p:cNvPr id="2" name="TextBox 1">
            <a:extLst>
              <a:ext uri="{FF2B5EF4-FFF2-40B4-BE49-F238E27FC236}">
                <a16:creationId xmlns:a16="http://schemas.microsoft.com/office/drawing/2014/main" id="{77E3F1CC-0056-98CD-E499-B312278C13E0}"/>
              </a:ext>
            </a:extLst>
          </p:cNvPr>
          <p:cNvSpPr txBox="1"/>
          <p:nvPr/>
        </p:nvSpPr>
        <p:spPr>
          <a:xfrm>
            <a:off x="304801" y="2493914"/>
            <a:ext cx="4118609" cy="338554"/>
          </a:xfrm>
          <a:prstGeom prst="rect">
            <a:avLst/>
          </a:prstGeom>
          <a:solidFill>
            <a:srgbClr val="002060"/>
          </a:solidFill>
        </p:spPr>
        <p:txBody>
          <a:bodyPr wrap="square" rtlCol="0">
            <a:spAutoFit/>
          </a:bodyPr>
          <a:lstStyle/>
          <a:p>
            <a:pPr algn="ctr"/>
            <a:r>
              <a:rPr lang="en-US" sz="1600" dirty="0">
                <a:solidFill>
                  <a:schemeClr val="bg1"/>
                </a:solidFill>
              </a:rPr>
              <a:t>Historical Financials ($ in Billions)</a:t>
            </a:r>
          </a:p>
        </p:txBody>
      </p:sp>
      <p:sp>
        <p:nvSpPr>
          <p:cNvPr id="3" name="TextBox 2">
            <a:extLst>
              <a:ext uri="{FF2B5EF4-FFF2-40B4-BE49-F238E27FC236}">
                <a16:creationId xmlns:a16="http://schemas.microsoft.com/office/drawing/2014/main" id="{D2D9565D-A196-B418-73D6-80CE21F3A654}"/>
              </a:ext>
            </a:extLst>
          </p:cNvPr>
          <p:cNvSpPr txBox="1"/>
          <p:nvPr/>
        </p:nvSpPr>
        <p:spPr>
          <a:xfrm>
            <a:off x="304800" y="4900683"/>
            <a:ext cx="4118609" cy="338554"/>
          </a:xfrm>
          <a:prstGeom prst="rect">
            <a:avLst/>
          </a:prstGeom>
          <a:solidFill>
            <a:srgbClr val="002060"/>
          </a:solidFill>
        </p:spPr>
        <p:txBody>
          <a:bodyPr wrap="square" rtlCol="0">
            <a:spAutoFit/>
          </a:bodyPr>
          <a:lstStyle/>
          <a:p>
            <a:pPr algn="ctr"/>
            <a:r>
              <a:rPr lang="en-US" sz="1600" dirty="0">
                <a:solidFill>
                  <a:schemeClr val="bg1"/>
                </a:solidFill>
              </a:rPr>
              <a:t>Revenue by Geography</a:t>
            </a:r>
          </a:p>
        </p:txBody>
      </p:sp>
      <p:sp>
        <p:nvSpPr>
          <p:cNvPr id="6" name="TextBox 5">
            <a:extLst>
              <a:ext uri="{FF2B5EF4-FFF2-40B4-BE49-F238E27FC236}">
                <a16:creationId xmlns:a16="http://schemas.microsoft.com/office/drawing/2014/main" id="{60CF8688-1049-0EF2-07AE-4315515BFCB8}"/>
              </a:ext>
            </a:extLst>
          </p:cNvPr>
          <p:cNvSpPr txBox="1"/>
          <p:nvPr/>
        </p:nvSpPr>
        <p:spPr>
          <a:xfrm>
            <a:off x="4655819" y="4900683"/>
            <a:ext cx="4225290" cy="338554"/>
          </a:xfrm>
          <a:prstGeom prst="rect">
            <a:avLst/>
          </a:prstGeom>
          <a:solidFill>
            <a:srgbClr val="002060"/>
          </a:solidFill>
        </p:spPr>
        <p:txBody>
          <a:bodyPr wrap="square" rtlCol="0">
            <a:spAutoFit/>
          </a:bodyPr>
          <a:lstStyle/>
          <a:p>
            <a:pPr algn="ctr"/>
            <a:r>
              <a:rPr lang="en-US" sz="1600" dirty="0">
                <a:solidFill>
                  <a:schemeClr val="bg1"/>
                </a:solidFill>
              </a:rPr>
              <a:t>Representative Franchise Assets</a:t>
            </a:r>
          </a:p>
        </p:txBody>
      </p:sp>
      <p:graphicFrame>
        <p:nvGraphicFramePr>
          <p:cNvPr id="13" name="Chart 12">
            <a:extLst>
              <a:ext uri="{FF2B5EF4-FFF2-40B4-BE49-F238E27FC236}">
                <a16:creationId xmlns:a16="http://schemas.microsoft.com/office/drawing/2014/main" id="{FCAC9D0E-E4FD-3D70-D89A-D30FF875DAE3}"/>
              </a:ext>
            </a:extLst>
          </p:cNvPr>
          <p:cNvGraphicFramePr/>
          <p:nvPr>
            <p:extLst>
              <p:ext uri="{D42A27DB-BD31-4B8C-83A1-F6EECF244321}">
                <p14:modId xmlns:p14="http://schemas.microsoft.com/office/powerpoint/2010/main" val="3836881087"/>
              </p:ext>
            </p:extLst>
          </p:nvPr>
        </p:nvGraphicFramePr>
        <p:xfrm>
          <a:off x="660400" y="5239237"/>
          <a:ext cx="3215640" cy="161876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6" name="Chart 25">
            <a:extLst>
              <a:ext uri="{FF2B5EF4-FFF2-40B4-BE49-F238E27FC236}">
                <a16:creationId xmlns:a16="http://schemas.microsoft.com/office/drawing/2014/main" id="{68905FD2-5859-6CFC-26CB-02F4019CCF42}"/>
              </a:ext>
            </a:extLst>
          </p:cNvPr>
          <p:cNvGraphicFramePr/>
          <p:nvPr>
            <p:extLst>
              <p:ext uri="{D42A27DB-BD31-4B8C-83A1-F6EECF244321}">
                <p14:modId xmlns:p14="http://schemas.microsoft.com/office/powerpoint/2010/main" val="20479422"/>
              </p:ext>
            </p:extLst>
          </p:nvPr>
        </p:nvGraphicFramePr>
        <p:xfrm>
          <a:off x="304799" y="2832468"/>
          <a:ext cx="4118609" cy="2015800"/>
        </p:xfrm>
        <a:graphic>
          <a:graphicData uri="http://schemas.openxmlformats.org/drawingml/2006/chart">
            <c:chart xmlns:c="http://schemas.openxmlformats.org/drawingml/2006/chart" xmlns:r="http://schemas.openxmlformats.org/officeDocument/2006/relationships" r:id="rId6"/>
          </a:graphicData>
        </a:graphic>
      </p:graphicFrame>
      <p:sp>
        <p:nvSpPr>
          <p:cNvPr id="27" name="Rectangle 1">
            <a:extLst>
              <a:ext uri="{FF2B5EF4-FFF2-40B4-BE49-F238E27FC236}">
                <a16:creationId xmlns:a16="http://schemas.microsoft.com/office/drawing/2014/main" id="{F1323DBE-6815-AE0F-8F0C-CCB788EA4E41}"/>
              </a:ext>
            </a:extLst>
          </p:cNvPr>
          <p:cNvSpPr>
            <a:spLocks noChangeArrowheads="1"/>
          </p:cNvSpPr>
          <p:nvPr/>
        </p:nvSpPr>
        <p:spPr bwMode="auto">
          <a:xfrm>
            <a:off x="4613910" y="1241952"/>
            <a:ext cx="426719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What the company does:</a:t>
            </a:r>
            <a:br>
              <a:rPr kumimoji="0" lang="en-US" altLang="en-US" sz="900" b="0" i="0" u="none" strike="noStrike" cap="none" normalizeH="0" baseline="0" dirty="0">
                <a:ln>
                  <a:noFill/>
                </a:ln>
                <a:solidFill>
                  <a:schemeClr val="tx1"/>
                </a:solidFill>
                <a:effectLst/>
                <a:latin typeface="Arial" panose="020B0604020202020204" pitchFamily="34" charset="0"/>
              </a:rPr>
            </a:br>
            <a:r>
              <a:rPr kumimoji="0" lang="en-US" altLang="en-US" sz="900" b="0" i="0" u="none" strike="noStrike" cap="none" normalizeH="0" baseline="0" dirty="0">
                <a:ln>
                  <a:noFill/>
                </a:ln>
                <a:solidFill>
                  <a:schemeClr val="tx1"/>
                </a:solidFill>
                <a:effectLst/>
                <a:latin typeface="Arial" panose="020B0604020202020204" pitchFamily="34" charset="0"/>
              </a:rPr>
              <a:t>Nintendo develops and publishes interactive entertainment, creating video game hardware, software, and iconic entertainment franchises worldwide.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Industry position:</a:t>
            </a:r>
            <a:br>
              <a:rPr kumimoji="0" lang="en-US" altLang="en-US" sz="900" b="0" i="0" u="none" strike="noStrike" cap="none" normalizeH="0" baseline="0" dirty="0">
                <a:ln>
                  <a:noFill/>
                </a:ln>
                <a:solidFill>
                  <a:schemeClr val="tx1"/>
                </a:solidFill>
                <a:effectLst/>
                <a:latin typeface="Arial" panose="020B0604020202020204" pitchFamily="34" charset="0"/>
              </a:rPr>
            </a:br>
            <a:r>
              <a:rPr kumimoji="0" lang="en-US" altLang="en-US" sz="900" b="0" i="0" u="none" strike="noStrike" cap="none" normalizeH="0" baseline="0" dirty="0">
                <a:ln>
                  <a:noFill/>
                </a:ln>
                <a:solidFill>
                  <a:schemeClr val="tx1"/>
                </a:solidFill>
                <a:effectLst/>
                <a:latin typeface="Arial" panose="020B0604020202020204" pitchFamily="34" charset="0"/>
              </a:rPr>
              <a:t>Nintendo is a leading global video game company, competing with Sony and Microsoft while differentiating through exclusive intellectual property.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Products sold:</a:t>
            </a:r>
            <a:br>
              <a:rPr kumimoji="0" lang="en-US" altLang="en-US" sz="900" b="0" i="0" u="none" strike="noStrike" cap="none" normalizeH="0" baseline="0" dirty="0">
                <a:ln>
                  <a:noFill/>
                </a:ln>
                <a:solidFill>
                  <a:schemeClr val="tx1"/>
                </a:solidFill>
                <a:effectLst/>
                <a:latin typeface="Arial" panose="020B0604020202020204" pitchFamily="34" charset="0"/>
              </a:rPr>
            </a:br>
            <a:r>
              <a:rPr kumimoji="0" lang="en-US" altLang="en-US" sz="900" b="0" i="0" u="none" strike="noStrike" cap="none" normalizeH="0" baseline="0" dirty="0">
                <a:ln>
                  <a:noFill/>
                </a:ln>
                <a:solidFill>
                  <a:schemeClr val="tx1"/>
                </a:solidFill>
                <a:effectLst/>
                <a:latin typeface="Arial" panose="020B0604020202020204" pitchFamily="34" charset="0"/>
              </a:rPr>
              <a:t>The company sells gaming consoles, video games, digital content, mobile games, and character-based merchandise and licensing.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Company history &amp; reputation:</a:t>
            </a:r>
            <a:br>
              <a:rPr kumimoji="0" lang="en-US" altLang="en-US" sz="900" b="0" i="0" u="none" strike="noStrike" cap="none" normalizeH="0" baseline="0" dirty="0">
                <a:ln>
                  <a:noFill/>
                </a:ln>
                <a:solidFill>
                  <a:schemeClr val="tx1"/>
                </a:solidFill>
                <a:effectLst/>
                <a:latin typeface="Arial" panose="020B0604020202020204" pitchFamily="34" charset="0"/>
              </a:rPr>
            </a:br>
            <a:r>
              <a:rPr kumimoji="0" lang="en-US" altLang="en-US" sz="900" b="0" i="0" u="none" strike="noStrike" cap="none" normalizeH="0" baseline="0" dirty="0">
                <a:ln>
                  <a:noFill/>
                </a:ln>
                <a:solidFill>
                  <a:schemeClr val="tx1"/>
                </a:solidFill>
                <a:effectLst/>
                <a:latin typeface="Arial" panose="020B0604020202020204" pitchFamily="34" charset="0"/>
              </a:rPr>
              <a:t>Founded in 1889, Nintendo has a long-standing reputation for innovation, family-friendly content, and globally trusted brands.</a:t>
            </a:r>
          </a:p>
        </p:txBody>
      </p:sp>
    </p:spTree>
    <p:extLst>
      <p:ext uri="{BB962C8B-B14F-4D97-AF65-F5344CB8AC3E}">
        <p14:creationId xmlns:p14="http://schemas.microsoft.com/office/powerpoint/2010/main" val="275854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533400"/>
          </a:xfrm>
        </p:spPr>
        <p:txBody>
          <a:bodyPr/>
          <a:lstStyle/>
          <a:p>
            <a:r>
              <a:rPr lang="en-US" sz="1800" b="1" dirty="0">
                <a:latin typeface="Arial" panose="020B0604020202020204" pitchFamily="34" charset="0"/>
                <a:cs typeface="Arial" panose="020B0604020202020204" pitchFamily="34" charset="0"/>
              </a:rPr>
              <a:t>Nintendo</a:t>
            </a:r>
            <a:r>
              <a:rPr lang="en-US" sz="1800" dirty="0">
                <a:latin typeface="Arial" panose="020B0604020202020204" pitchFamily="34" charset="0"/>
                <a:cs typeface="Arial" panose="020B0604020202020204" pitchFamily="34" charset="0"/>
              </a:rPr>
              <a:t> | </a:t>
            </a:r>
            <a:r>
              <a:rPr lang="en-US" sz="1800" b="0" dirty="0">
                <a:latin typeface="Arial" panose="020B0604020202020204" pitchFamily="34" charset="0"/>
                <a:cs typeface="Arial" panose="020B0604020202020204" pitchFamily="34" charset="0"/>
              </a:rPr>
              <a:t>Discounted Cash Flow Analysis</a:t>
            </a:r>
          </a:p>
        </p:txBody>
      </p:sp>
      <p:sp>
        <p:nvSpPr>
          <p:cNvPr id="3" name="Slide Number Placeholder 2"/>
          <p:cNvSpPr>
            <a:spLocks noGrp="1"/>
          </p:cNvSpPr>
          <p:nvPr>
            <p:ph type="sldNum" sz="quarter" idx="4"/>
          </p:nvPr>
        </p:nvSpPr>
        <p:spPr/>
        <p:txBody>
          <a:bodyPr/>
          <a:lstStyle/>
          <a:p>
            <a:fld id="{0E597324-71BB-4312-8794-C30754F659B3}" type="slidenum">
              <a:rPr lang="en-US" smtClean="0"/>
              <a:pPr/>
              <a:t>2</a:t>
            </a:fld>
            <a:endParaRPr lang="en-US" dirty="0"/>
          </a:p>
        </p:txBody>
      </p:sp>
      <p:sp>
        <p:nvSpPr>
          <p:cNvPr id="6" name="TextBox 5">
            <a:extLst>
              <a:ext uri="{FF2B5EF4-FFF2-40B4-BE49-F238E27FC236}">
                <a16:creationId xmlns:a16="http://schemas.microsoft.com/office/drawing/2014/main" id="{3953B1F8-2615-2026-1053-E17D560D78E7}"/>
              </a:ext>
            </a:extLst>
          </p:cNvPr>
          <p:cNvSpPr txBox="1"/>
          <p:nvPr/>
        </p:nvSpPr>
        <p:spPr>
          <a:xfrm>
            <a:off x="304801"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Enterprise Value</a:t>
            </a:r>
          </a:p>
        </p:txBody>
      </p:sp>
      <p:sp>
        <p:nvSpPr>
          <p:cNvPr id="7" name="TextBox 6">
            <a:extLst>
              <a:ext uri="{FF2B5EF4-FFF2-40B4-BE49-F238E27FC236}">
                <a16:creationId xmlns:a16="http://schemas.microsoft.com/office/drawing/2014/main" id="{2A7FC7F8-A1F0-ED44-2CA4-5AFD5E54CFB3}"/>
              </a:ext>
            </a:extLst>
          </p:cNvPr>
          <p:cNvSpPr txBox="1"/>
          <p:nvPr/>
        </p:nvSpPr>
        <p:spPr>
          <a:xfrm>
            <a:off x="4611758"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Implied Share Price</a:t>
            </a:r>
          </a:p>
        </p:txBody>
      </p:sp>
      <p:sp>
        <p:nvSpPr>
          <p:cNvPr id="8" name="TextBox 7">
            <a:extLst>
              <a:ext uri="{FF2B5EF4-FFF2-40B4-BE49-F238E27FC236}">
                <a16:creationId xmlns:a16="http://schemas.microsoft.com/office/drawing/2014/main" id="{56CFDA3E-41F8-9E93-B9DE-1583A285F49A}"/>
              </a:ext>
            </a:extLst>
          </p:cNvPr>
          <p:cNvSpPr txBox="1"/>
          <p:nvPr/>
        </p:nvSpPr>
        <p:spPr>
          <a:xfrm>
            <a:off x="304801" y="889241"/>
            <a:ext cx="8527424" cy="338554"/>
          </a:xfrm>
          <a:prstGeom prst="rect">
            <a:avLst/>
          </a:prstGeom>
          <a:solidFill>
            <a:srgbClr val="002060"/>
          </a:solidFill>
        </p:spPr>
        <p:txBody>
          <a:bodyPr wrap="square" rtlCol="0">
            <a:spAutoFit/>
          </a:bodyPr>
          <a:lstStyle/>
          <a:p>
            <a:pPr algn="ctr"/>
            <a:r>
              <a:rPr lang="en-US" sz="1600" dirty="0">
                <a:solidFill>
                  <a:schemeClr val="bg1"/>
                </a:solidFill>
              </a:rPr>
              <a:t>Implied Enterprise Value &amp; Equity Value from DCF</a:t>
            </a:r>
          </a:p>
        </p:txBody>
      </p:sp>
      <p:pic>
        <p:nvPicPr>
          <p:cNvPr id="9" name="Picture 8">
            <a:extLst>
              <a:ext uri="{FF2B5EF4-FFF2-40B4-BE49-F238E27FC236}">
                <a16:creationId xmlns:a16="http://schemas.microsoft.com/office/drawing/2014/main" id="{AC0D66E5-6405-6D97-BD59-FD6B7BE3E7B0}"/>
              </a:ext>
            </a:extLst>
          </p:cNvPr>
          <p:cNvPicPr>
            <a:picLocks noChangeAspect="1"/>
          </p:cNvPicPr>
          <p:nvPr/>
        </p:nvPicPr>
        <p:blipFill>
          <a:blip r:embed="rId2"/>
          <a:stretch>
            <a:fillRect/>
          </a:stretch>
        </p:blipFill>
        <p:spPr>
          <a:xfrm>
            <a:off x="311775" y="1274685"/>
            <a:ext cx="782083" cy="244774"/>
          </a:xfrm>
          <a:prstGeom prst="rect">
            <a:avLst/>
          </a:prstGeom>
        </p:spPr>
      </p:pic>
      <p:sp>
        <p:nvSpPr>
          <p:cNvPr id="12" name="TextBox 11">
            <a:extLst>
              <a:ext uri="{FF2B5EF4-FFF2-40B4-BE49-F238E27FC236}">
                <a16:creationId xmlns:a16="http://schemas.microsoft.com/office/drawing/2014/main" id="{59E890A7-8B9A-6C4F-2744-081813E9F240}"/>
              </a:ext>
            </a:extLst>
          </p:cNvPr>
          <p:cNvSpPr txBox="1"/>
          <p:nvPr/>
        </p:nvSpPr>
        <p:spPr>
          <a:xfrm>
            <a:off x="304801" y="6078224"/>
            <a:ext cx="8527424" cy="338554"/>
          </a:xfrm>
          <a:prstGeom prst="rect">
            <a:avLst/>
          </a:prstGeom>
          <a:solidFill>
            <a:srgbClr val="002060"/>
          </a:solidFill>
        </p:spPr>
        <p:txBody>
          <a:bodyPr wrap="square" rtlCol="0">
            <a:spAutoFit/>
          </a:bodyPr>
          <a:lstStyle/>
          <a:p>
            <a:pPr algn="ctr"/>
            <a:r>
              <a:rPr lang="en-US" sz="1600" dirty="0">
                <a:solidFill>
                  <a:schemeClr val="bg1"/>
                </a:solidFill>
              </a:rPr>
              <a:t>We believe Nintendo should be valued between $98B-120B, with a midpoint valuation of $110B</a:t>
            </a:r>
          </a:p>
        </p:txBody>
      </p:sp>
      <p:pic>
        <p:nvPicPr>
          <p:cNvPr id="5" name="Picture 4">
            <a:extLst>
              <a:ext uri="{FF2B5EF4-FFF2-40B4-BE49-F238E27FC236}">
                <a16:creationId xmlns:a16="http://schemas.microsoft.com/office/drawing/2014/main" id="{A881257A-88A7-3C43-0B2A-E49196935C52}"/>
              </a:ext>
            </a:extLst>
          </p:cNvPr>
          <p:cNvPicPr>
            <a:picLocks noChangeAspect="1"/>
          </p:cNvPicPr>
          <p:nvPr/>
        </p:nvPicPr>
        <p:blipFill>
          <a:blip r:embed="rId3"/>
          <a:stretch>
            <a:fillRect/>
          </a:stretch>
        </p:blipFill>
        <p:spPr>
          <a:xfrm>
            <a:off x="1148560" y="1274685"/>
            <a:ext cx="6839905" cy="2514951"/>
          </a:xfrm>
          <a:prstGeom prst="rect">
            <a:avLst/>
          </a:prstGeom>
        </p:spPr>
      </p:pic>
      <p:pic>
        <p:nvPicPr>
          <p:cNvPr id="11" name="Picture 10">
            <a:extLst>
              <a:ext uri="{FF2B5EF4-FFF2-40B4-BE49-F238E27FC236}">
                <a16:creationId xmlns:a16="http://schemas.microsoft.com/office/drawing/2014/main" id="{40072584-229E-DE9B-3974-C1A02F0FD66C}"/>
              </a:ext>
            </a:extLst>
          </p:cNvPr>
          <p:cNvPicPr>
            <a:picLocks noChangeAspect="1"/>
          </p:cNvPicPr>
          <p:nvPr/>
        </p:nvPicPr>
        <p:blipFill>
          <a:blip r:embed="rId4"/>
          <a:stretch>
            <a:fillRect/>
          </a:stretch>
        </p:blipFill>
        <p:spPr>
          <a:xfrm>
            <a:off x="311777" y="4550959"/>
            <a:ext cx="4213492" cy="1381318"/>
          </a:xfrm>
          <a:prstGeom prst="rect">
            <a:avLst/>
          </a:prstGeom>
        </p:spPr>
      </p:pic>
      <p:pic>
        <p:nvPicPr>
          <p:cNvPr id="15" name="Picture 14">
            <a:extLst>
              <a:ext uri="{FF2B5EF4-FFF2-40B4-BE49-F238E27FC236}">
                <a16:creationId xmlns:a16="http://schemas.microsoft.com/office/drawing/2014/main" id="{831FA657-D011-6092-EEEF-ACDF6FFFAF15}"/>
              </a:ext>
            </a:extLst>
          </p:cNvPr>
          <p:cNvPicPr>
            <a:picLocks noChangeAspect="1"/>
          </p:cNvPicPr>
          <p:nvPr/>
        </p:nvPicPr>
        <p:blipFill>
          <a:blip r:embed="rId5"/>
          <a:stretch>
            <a:fillRect/>
          </a:stretch>
        </p:blipFill>
        <p:spPr>
          <a:xfrm>
            <a:off x="4618733" y="4550959"/>
            <a:ext cx="4213490" cy="1324160"/>
          </a:xfrm>
          <a:prstGeom prst="rect">
            <a:avLst/>
          </a:prstGeom>
        </p:spPr>
      </p:pic>
    </p:spTree>
    <p:extLst>
      <p:ext uri="{BB962C8B-B14F-4D97-AF65-F5344CB8AC3E}">
        <p14:creationId xmlns:p14="http://schemas.microsoft.com/office/powerpoint/2010/main" val="36440073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SE THIS">
  <a:themeElements>
    <a:clrScheme name="Custom 1">
      <a:dk1>
        <a:sysClr val="windowText" lastClr="000000"/>
      </a:dk1>
      <a:lt1>
        <a:sysClr val="window" lastClr="FFFFFF"/>
      </a:lt1>
      <a:dk2>
        <a:srgbClr val="1F497D"/>
      </a:dk2>
      <a:lt2>
        <a:srgbClr val="EEECE1"/>
      </a:lt2>
      <a:accent1>
        <a:srgbClr val="546C8D"/>
      </a:accent1>
      <a:accent2>
        <a:srgbClr val="C0504D"/>
      </a:accent2>
      <a:accent3>
        <a:srgbClr val="386A1D"/>
      </a:accent3>
      <a:accent4>
        <a:srgbClr val="8064A2"/>
      </a:accent4>
      <a:accent5>
        <a:srgbClr val="4BACC6"/>
      </a:accent5>
      <a:accent6>
        <a:srgbClr val="F79646"/>
      </a:accent6>
      <a:hlink>
        <a:srgbClr val="0000FF"/>
      </a:hlink>
      <a:folHlink>
        <a:srgbClr val="800080"/>
      </a:folHlink>
    </a:clrScheme>
    <a:fontScheme name="FPP Presentation">
      <a:majorFont>
        <a:latin typeface="Cambria"/>
        <a:ea typeface=""/>
        <a:cs typeface=""/>
      </a:majorFont>
      <a:minorFont>
        <a:latin typeface="Calibri"/>
        <a:ea typeface=""/>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bwMode="auto">
        <a:solidFill>
          <a:srgbClr val="FFFF00"/>
        </a:solidFill>
        <a:ln w="19050" cap="rnd" cmpd="sng">
          <a:solidFill>
            <a:schemeClr val="tx1"/>
          </a:solidFill>
          <a:prstDash val="solid"/>
          <a:round/>
          <a:headEnd type="none" w="med" len="med"/>
          <a:tailEnd type="none" w="med" len="med"/>
        </a:ln>
        <a:effectLst/>
      </a:spPr>
      <a:bodyPr rtlCol="0" anchor="ctr"/>
      <a:lstStyle>
        <a:defPPr algn="ctr">
          <a:defRPr dirty="0"/>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80288</TotalTime>
  <Words>332</Words>
  <Application>Microsoft Office PowerPoint</Application>
  <PresentationFormat>Letter Paper (8.5x11 in)</PresentationFormat>
  <Paragraphs>40</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Cambria</vt:lpstr>
      <vt:lpstr>Courier New</vt:lpstr>
      <vt:lpstr>Wingdings</vt:lpstr>
      <vt:lpstr>Wingdings 3</vt:lpstr>
      <vt:lpstr>USE THIS</vt:lpstr>
      <vt:lpstr>Nintendo | Company profile</vt:lpstr>
      <vt:lpstr>Nintendo | Discounted Cash Flow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JP &amp; WW</dc:creator>
  <cp:lastModifiedBy>SANJEEV PARMAR</cp:lastModifiedBy>
  <cp:revision>1463</cp:revision>
  <cp:lastPrinted>2017-04-11T02:39:08Z</cp:lastPrinted>
  <dcterms:created xsi:type="dcterms:W3CDTF">2015-08-12T15:22:50Z</dcterms:created>
  <dcterms:modified xsi:type="dcterms:W3CDTF">2025-12-16T15:30:30Z</dcterms:modified>
</cp:coreProperties>
</file>